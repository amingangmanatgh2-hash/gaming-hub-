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GoldRail"/>
          <p:cNvSpPr/>
          <p:nvPr/>
        </p:nvSpPr>
        <p:spPr>
          <a:xfrm>
            <a:off x="566928" y="512064"/>
            <a:ext cx="54864" cy="535838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21792"/>
            <a:ext cx="4937760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FC64E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Title"/>
          <p:cNvSpPr txBox="1"/>
          <p:nvPr/>
        </p:nvSpPr>
        <p:spPr>
          <a:xfrm>
            <a:off x="822960" y="1261872"/>
            <a:ext cx="5166360" cy="1325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3700" b="1" lang="fa-IR">
                <a:solidFill>
                  <a:srgbClr val="F8FCFF"/>
                </a:solidFill>
                <a:latin typeface="Tahoma"/>
              </a:rPr>
              <a:t>چرا به قانون</a:t>
            </a:r>
            <a:br/>
            <a:r>
              <a:rPr sz="3700" b="1" lang="fa-IR">
                <a:solidFill>
                  <a:srgbClr val="F8FCFF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80360"/>
            <a:ext cx="4983480" cy="7132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 rtl="1"/>
            <a:r>
              <a:rPr sz="1800" b="0" lang="fa-IR">
                <a:solidFill>
                  <a:srgbClr val="C9EDFF"/>
                </a:solidFill>
                <a:latin typeface="Tahoma"/>
              </a:rPr>
              <a:t>قانون، مسیرِ </a:t>
            </a:r>
            <a:r>
              <a:rPr sz="1800" b="1" lang="fa-IR">
                <a:solidFill>
                  <a:srgbClr val="FFC64E"/>
                </a:solidFill>
                <a:latin typeface="Tahoma"/>
              </a:rPr>
              <a:t>نظم، امنیت و عدالت</a:t>
            </a:r>
            <a:r>
              <a:rPr sz="1800" b="0" lang="fa-IR">
                <a:solidFill>
                  <a:srgbClr val="C9EDFF"/>
                </a:solidFill>
                <a:latin typeface="Tahoma"/>
              </a:rPr>
              <a:t> است.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858768"/>
            <a:ext cx="4526280" cy="18288"/>
          </a:xfrm>
          <a:prstGeom prst="rect">
            <a:avLst/>
          </a:prstGeom>
          <a:solidFill>
            <a:srgbClr val="639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114800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50" b="0" lang="fa-IR">
                <a:solidFill>
                  <a:srgbClr val="F8FCFF"/>
                </a:solidFill>
                <a:latin typeface="Tahoma"/>
              </a:rPr>
              <a:t>گروه ۶ • کلاس ۷/۳</a:t>
            </a:r>
            <a:br/>
            <a:r>
              <a:rPr sz="1250" b="0" lang="fa-IR">
                <a:solidFill>
                  <a:srgbClr val="F8FCFF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230368"/>
            <a:ext cx="246888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66944"/>
            <a:ext cx="232257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نسخهٔ ۴ • کنفرانس ۱۰ دقیقه‌ای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۰:۲۵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۰۱ / ۱۸</a:t>
            </a:r>
          </a:p>
        </p:txBody>
      </p:sp>
      <p:sp>
        <p:nvSpPr>
          <p:cNvPr id="14" name="!!Progress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پردهٔ اول • مسئله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اگر فقط یک روز، هیچ قانونی وجود نداشت…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۰۲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HeroTitle"/>
          <p:cNvSpPr txBox="1"/>
          <p:nvPr/>
        </p:nvSpPr>
        <p:spPr>
          <a:xfrm>
            <a:off x="786384" y="1426464"/>
            <a:ext cx="4892040" cy="1508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2800" b="1" lang="fa-IR">
                <a:solidFill>
                  <a:srgbClr val="F8FCFF"/>
                </a:solidFill>
                <a:latin typeface="Tahoma"/>
              </a:rPr>
              <a:t>چه کسی از حقِ</a:t>
            </a:r>
            <a:br/>
            <a:r>
              <a:rPr sz="2800" b="1" lang="fa-IR">
                <a:solidFill>
                  <a:srgbClr val="F8FCFF"/>
                </a:solidFill>
                <a:latin typeface="Tahoma"/>
              </a:rPr>
              <a:t>ضعیف‌ترها دفاع می‌کرد؟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3310128"/>
            <a:ext cx="4251960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584448"/>
            <a:ext cx="4526280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600" b="0" lang="fa-IR">
                <a:solidFill>
                  <a:srgbClr val="C9EDFF"/>
                </a:solidFill>
                <a:latin typeface="Tahoma"/>
              </a:rPr>
              <a:t>خیابان، مدرسه و حتی خانه خیلی زود دچار آشفتگی می‌شدند. قانون فقط «نباید» نیست؛ یک توافق جمعی برای زندگی امن است.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5029200"/>
            <a:ext cx="356616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065776"/>
            <a:ext cx="3419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سؤال آغازین: آزادی بدون مرز یا بی‌نظمی؟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نقشهٔ روایت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سه پرده؛ از یک پرسش تا یک پاسخ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۰۳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Progress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ActCard"/>
          <p:cNvSpPr/>
          <p:nvPr/>
        </p:nvSpPr>
        <p:spPr>
          <a:xfrm>
            <a:off x="658368" y="1536192"/>
            <a:ext cx="3438144" cy="340156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DD7D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810512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FF6D5E"/>
                </a:solidFill>
                <a:latin typeface="Tahoma"/>
              </a:rPr>
              <a:t>پردهٔ اول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3317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مسئله</a:t>
            </a:r>
          </a:p>
        </p:txBody>
      </p:sp>
      <p:sp>
        <p:nvSpPr>
          <p:cNvPr id="29" name="Oval 28"/>
          <p:cNvSpPr/>
          <p:nvPr/>
        </p:nvSpPr>
        <p:spPr>
          <a:xfrm>
            <a:off x="2011680" y="3090672"/>
            <a:ext cx="713232" cy="713232"/>
          </a:xfrm>
          <a:prstGeom prst="ellipse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3200400"/>
            <a:ext cx="713232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4087368"/>
            <a:ext cx="2816352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حق من کجا تمام می‌شود؟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53128" y="1536192"/>
            <a:ext cx="3438144" cy="340156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DD7D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810512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1ACE8"/>
                </a:solidFill>
                <a:latin typeface="Tahoma"/>
              </a:rPr>
              <a:t>پردهٔ دوم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23317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کشف</a:t>
            </a:r>
          </a:p>
        </p:txBody>
      </p:sp>
      <p:sp>
        <p:nvSpPr>
          <p:cNvPr id="35" name="Oval 34"/>
          <p:cNvSpPr/>
          <p:nvPr/>
        </p:nvSpPr>
        <p:spPr>
          <a:xfrm>
            <a:off x="5806440" y="3090672"/>
            <a:ext cx="713232" cy="713232"/>
          </a:xfrm>
          <a:prstGeom prst="ellipse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200400"/>
            <a:ext cx="713232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4087368"/>
            <a:ext cx="2816352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قانون چه چیزی را حفظ می‌کند؟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7888" y="1536192"/>
            <a:ext cx="3438144" cy="340156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DD7D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1810512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00" b="1" lang="fa-IR">
                <a:solidFill>
                  <a:srgbClr val="46DAB0"/>
                </a:solidFill>
                <a:latin typeface="Tahoma"/>
              </a:rPr>
              <a:t>پردهٔ سوم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3317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انتخاب</a:t>
            </a:r>
          </a:p>
        </p:txBody>
      </p:sp>
      <p:sp>
        <p:nvSpPr>
          <p:cNvPr id="41" name="Oval 40"/>
          <p:cNvSpPr/>
          <p:nvPr/>
        </p:nvSpPr>
        <p:spPr>
          <a:xfrm>
            <a:off x="9601200" y="3090672"/>
            <a:ext cx="713232" cy="713232"/>
          </a:xfrm>
          <a:prstGeom prst="ellipse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3200400"/>
            <a:ext cx="713232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7928" y="4087368"/>
            <a:ext cx="2816352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من چه مسئولیتی دارم؟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440680"/>
            <a:ext cx="758952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500" b="1" lang="fa-IR">
                <a:solidFill>
                  <a:srgbClr val="FFC64E"/>
                </a:solidFill>
                <a:latin typeface="Tahoma"/>
              </a:rPr>
              <a:t>هدف ارائه: دیدنِ قانون در تصمیم‌های کوچکِ هر روز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پایهٔ مفهوم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اجتماع، یک شبکهٔ زنده از حق‌ها و مسئولیت‌هاست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۰۴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Core"/>
          <p:cNvSpPr/>
          <p:nvPr/>
        </p:nvSpPr>
        <p:spPr>
          <a:xfrm>
            <a:off x="4828032" y="2084831"/>
            <a:ext cx="2514600" cy="2514600"/>
          </a:xfrm>
          <a:prstGeom prst="ellipse">
            <a:avLst/>
          </a:prstGeom>
          <a:solidFill>
            <a:srgbClr val="124758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2670048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8FCFF"/>
                </a:solidFill>
                <a:latin typeface="Tahoma"/>
              </a:rPr>
              <a:t>زندگی</a:t>
            </a:r>
            <a:br/>
            <a:r>
              <a:rPr sz="2400" b="1" lang="fa-IR">
                <a:solidFill>
                  <a:srgbClr val="F8FCFF"/>
                </a:solidFill>
                <a:latin typeface="Tahoma"/>
              </a:rPr>
              <a:t>اجتماعی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1481328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591056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خانواده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1956816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آرامش ↔ احترام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1481328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8" y="1591056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1ACE8"/>
                </a:solidFill>
                <a:latin typeface="Tahoma"/>
              </a:rPr>
              <a:t>مدرسه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8" y="1956816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آموزش ↔ نظم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343400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453128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6DAB0"/>
                </a:solidFill>
                <a:latin typeface="Tahoma"/>
              </a:rPr>
              <a:t>محله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818888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امکانات ↔ مراقبت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0848" y="4343400"/>
            <a:ext cx="2148840" cy="914400"/>
          </a:xfrm>
          <a:prstGeom prst="roundRect">
            <a:avLst/>
          </a:prstGeom>
          <a:solidFill>
            <a:srgbClr val="0D2A3C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4453128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6D5E"/>
                </a:solidFill>
                <a:latin typeface="Tahoma"/>
              </a:rPr>
              <a:t>جامعه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8" y="4818888"/>
            <a:ext cx="1874519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0" lang="fa-IR">
                <a:solidFill>
                  <a:srgbClr val="C9EDFF"/>
                </a:solidFill>
                <a:latin typeface="Tahoma"/>
              </a:rPr>
              <a:t>امنیت ↔ قانون‌مداری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08960" y="1938528"/>
            <a:ext cx="1719072" cy="731520"/>
          </a:xfrm>
          <a:prstGeom prst="line">
            <a:avLst/>
          </a:prstGeom>
          <a:ln w="25400">
            <a:solidFill>
              <a:srgbClr val="FFC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42631" y="1938528"/>
            <a:ext cx="1728217" cy="731520"/>
          </a:xfrm>
          <a:prstGeom prst="line">
            <a:avLst/>
          </a:prstGeom>
          <a:ln w="25400">
            <a:solidFill>
              <a:srgbClr val="41A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08960" y="3657600"/>
            <a:ext cx="1719072" cy="1143000"/>
          </a:xfrm>
          <a:prstGeom prst="line">
            <a:avLst/>
          </a:prstGeom>
          <a:ln w="25400">
            <a:solidFill>
              <a:srgbClr val="46D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42631" y="3657600"/>
            <a:ext cx="1728217" cy="1143000"/>
          </a:xfrm>
          <a:prstGeom prst="line">
            <a:avLst/>
          </a:prstGeom>
          <a:ln w="25400">
            <a:solidFill>
              <a:srgbClr val="FF6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00400" y="5440680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500" b="1" lang="fa-IR">
                <a:solidFill>
                  <a:srgbClr val="FFC64E"/>
                </a:solidFill>
                <a:latin typeface="Tahoma"/>
              </a:rPr>
              <a:t>رابطه بیشتر ← اثر بیشتر ← مسئولیت بیشتر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اصل طلایی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آزادیِ واقعی، با مسئولیت کامل می‌شود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۰۵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1353312"/>
            <a:ext cx="6949440" cy="9601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500" b="1" lang="fa-IR">
                <a:solidFill>
                  <a:srgbClr val="0C1F30"/>
                </a:solidFill>
                <a:latin typeface="Tahoma"/>
              </a:rPr>
              <a:t>«مرزِ حقِ من، جایی است که حقِ دیگری آغاز می‌شود.»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2496312"/>
            <a:ext cx="6263640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2816352"/>
            <a:ext cx="109728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2999232"/>
            <a:ext cx="95097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46DAB0"/>
                </a:solidFill>
                <a:latin typeface="Tahoma"/>
              </a:rPr>
              <a:t>حق من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75104" y="2944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8AA9B8"/>
                </a:solidFill>
                <a:latin typeface="Tahoma"/>
              </a:rPr>
              <a:t>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42616" y="2816352"/>
            <a:ext cx="109728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5768" y="2999232"/>
            <a:ext cx="95097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FFC64E"/>
                </a:solidFill>
                <a:latin typeface="Tahoma"/>
              </a:rPr>
              <a:t>قانون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4487" y="2944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8AA9B8"/>
                </a:solidFill>
                <a:latin typeface="Tahoma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816352"/>
            <a:ext cx="150876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2999232"/>
            <a:ext cx="136245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FF6D5E"/>
                </a:solidFill>
                <a:latin typeface="Tahoma"/>
              </a:rPr>
              <a:t>حق دیگران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29443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8AA9B8"/>
                </a:solidFill>
                <a:latin typeface="Tahoma"/>
              </a:rPr>
              <a:t>=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12864" y="2816352"/>
            <a:ext cx="1508760" cy="74980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86016" y="2999232"/>
            <a:ext cx="1362456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41ACE8"/>
                </a:solidFill>
                <a:latin typeface="Tahoma"/>
              </a:rPr>
              <a:t>آزادی مسئولانه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417320"/>
            <a:ext cx="3154680" cy="4160520"/>
          </a:xfrm>
          <a:prstGeom prst="roundRect">
            <a:avLst/>
          </a:prstGeom>
          <a:solidFill>
            <a:srgbClr val="05121F"/>
          </a:solidFill>
          <a:ln w="15875">
            <a:solidFill>
              <a:srgbClr val="1C475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1783080"/>
            <a:ext cx="251460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آزمون ۳ ثانیه‌ای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2542032"/>
            <a:ext cx="47548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9952" y="2578608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256032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9EDFF"/>
                </a:solidFill>
                <a:latin typeface="Tahoma"/>
              </a:rPr>
              <a:t>آسیب می‌زند؟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3364991"/>
            <a:ext cx="47548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952" y="3401568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2" y="3383279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9EDFF"/>
                </a:solidFill>
                <a:latin typeface="Tahoma"/>
              </a:rPr>
              <a:t>اگر همه انجام دهند؟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4187952"/>
            <a:ext cx="47548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9952" y="4224528"/>
            <a:ext cx="32918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42062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9EDFF"/>
                </a:solidFill>
                <a:latin typeface="Tahoma"/>
              </a:rPr>
              <a:t>پیامدش را می‌پذیرم؟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138928"/>
            <a:ext cx="658368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FC64E"/>
                </a:solidFill>
                <a:latin typeface="Tahoma"/>
              </a:rPr>
              <a:t>مسئولیت، دشمن آزادی نیست؛ شرطِ ماندگارشدن آن است.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پردهٔ دوم • کشف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هفت ثانیه عجله؛ چندین حق از دست‌رفته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۰۶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29400" y="1353312"/>
            <a:ext cx="4892040" cy="4297680"/>
          </a:xfrm>
          <a:prstGeom prst="roundRect">
            <a:avLst/>
          </a:prstGeom>
          <a:solidFill>
            <a:srgbClr val="03101D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1700784"/>
            <a:ext cx="416052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8FCFF"/>
                </a:solidFill>
                <a:latin typeface="Tahoma"/>
              </a:rPr>
              <a:t>چراغ قرمز فقط یک رنگ نیست؛</a:t>
            </a:r>
            <a:br/>
            <a:r>
              <a:rPr sz="2100" b="1" lang="fa-IR">
                <a:solidFill>
                  <a:srgbClr val="F8FCFF"/>
                </a:solidFill>
                <a:latin typeface="Tahoma"/>
              </a:rPr>
              <a:t>قراردادِ حفظ جان است.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761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FF6D5E"/>
                </a:solidFill>
                <a:latin typeface="Tahoma"/>
              </a:rPr>
              <a:t>جان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898648"/>
            <a:ext cx="566928" cy="22860"/>
          </a:xfrm>
          <a:prstGeom prst="rect">
            <a:avLst/>
          </a:prstGeom>
          <a:solidFill>
            <a:srgbClr val="FF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2761488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0" lang="fa-IR">
                <a:solidFill>
                  <a:srgbClr val="C9EDFF"/>
                </a:solidFill>
                <a:latin typeface="Tahoma"/>
              </a:rPr>
              <a:t>خطر تصادف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511296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زمان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3648456"/>
            <a:ext cx="566928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3511296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0" lang="fa-IR">
                <a:solidFill>
                  <a:srgbClr val="C9EDFF"/>
                </a:solidFill>
                <a:latin typeface="Tahoma"/>
              </a:rPr>
              <a:t>ترافیک و تأخیر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26110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46DAB0"/>
                </a:solidFill>
                <a:latin typeface="Tahoma"/>
              </a:rPr>
              <a:t>آرامش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4398264"/>
            <a:ext cx="566928" cy="22860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4261104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0" lang="fa-IR">
                <a:solidFill>
                  <a:srgbClr val="C9EDFF"/>
                </a:solidFill>
                <a:latin typeface="Tahoma"/>
              </a:rPr>
              <a:t>تنش و بی‌اعتمادی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5166360"/>
            <a:ext cx="352044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1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5202936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1ACE8"/>
                </a:solidFill>
                <a:latin typeface="Tahoma"/>
              </a:rPr>
              <a:t>قانون رانندگی = زمانِ بیشتر برای زندگی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زنجیرهٔ پیامد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یک تخلف کوچک، چگونه به بحران تبدیل می‌شود؟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۰۷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Chain"/>
          <p:cNvSpPr/>
          <p:nvPr/>
        </p:nvSpPr>
        <p:spPr>
          <a:xfrm>
            <a:off x="438912" y="217627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39572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FF6D5E"/>
                </a:solidFill>
                <a:latin typeface="Tahoma"/>
              </a:rPr>
              <a:t>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86207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عبور ممنوع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70662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30" name="Hexagon 29"/>
          <p:cNvSpPr/>
          <p:nvPr/>
        </p:nvSpPr>
        <p:spPr>
          <a:xfrm>
            <a:off x="2770632" y="249631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271576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FFC64E"/>
                </a:solidFill>
                <a:latin typeface="Tahoma"/>
              </a:rPr>
              <a:t>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318211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تداخل مسیر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02666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34" name="Hexagon 33"/>
          <p:cNvSpPr/>
          <p:nvPr/>
        </p:nvSpPr>
        <p:spPr>
          <a:xfrm>
            <a:off x="5102352" y="217627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0952" y="239572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41ACE8"/>
                </a:solidFill>
                <a:latin typeface="Tahoma"/>
              </a:rPr>
              <a:t>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286207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قفل تقاطع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70662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38" name="Hexagon 37"/>
          <p:cNvSpPr/>
          <p:nvPr/>
        </p:nvSpPr>
        <p:spPr>
          <a:xfrm>
            <a:off x="7434071" y="249631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1" y="271576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46DAB0"/>
                </a:solidFill>
                <a:latin typeface="Tahoma"/>
              </a:rPr>
              <a:t>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8211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ترافیک و تنش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026664"/>
            <a:ext cx="420624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FC64E"/>
                </a:solidFill>
                <a:latin typeface="Tahoma"/>
              </a:rPr>
              <a:t>←</a:t>
            </a:r>
          </a:p>
        </p:txBody>
      </p:sp>
      <p:sp>
        <p:nvSpPr>
          <p:cNvPr id="42" name="Hexagon 41"/>
          <p:cNvSpPr/>
          <p:nvPr/>
        </p:nvSpPr>
        <p:spPr>
          <a:xfrm>
            <a:off x="9765792" y="2176272"/>
            <a:ext cx="1965960" cy="1417320"/>
          </a:xfrm>
          <a:prstGeom prst="hexagon">
            <a:avLst/>
          </a:prstGeom>
          <a:solidFill>
            <a:srgbClr val="0C2A3C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4392" y="2395728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00" b="1" lang="fa-IR">
                <a:solidFill>
                  <a:srgbClr val="FF6D5E"/>
                </a:solidFill>
                <a:latin typeface="Tahoma"/>
              </a:rPr>
              <a:t>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2862072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250" b="1" lang="fa-IR">
                <a:solidFill>
                  <a:srgbClr val="F8FCFF"/>
                </a:solidFill>
                <a:latin typeface="Tahoma"/>
              </a:rPr>
              <a:t>تصادف و ناامنی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1872" y="4434840"/>
            <a:ext cx="9646920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C9EDFF"/>
                </a:solidFill>
                <a:latin typeface="Tahoma"/>
              </a:rPr>
              <a:t>قانون، جلوی «سرایتِ خطا» را می‌گیرد؛ چون جامعه یک شبکهٔ به‌هم‌پیوسته است.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15968" y="5394960"/>
            <a:ext cx="356616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5431536"/>
            <a:ext cx="3419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یک انتخابِ مسئولانه، ده‌ها حق را حفظ می‌کند.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تفکیک دقیق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مقررات و قانون؛ شبیه‌اند، اما یکسان نیستند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۰:۵۰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۰۸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Progress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1353312"/>
            <a:ext cx="4892040" cy="42245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1645920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46DAB0"/>
                </a:solidFill>
                <a:latin typeface="Tahoma"/>
              </a:rPr>
              <a:t>مقررات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267712"/>
            <a:ext cx="128016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2304288"/>
            <a:ext cx="1133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محیط محدود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2267712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04872" y="2304288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توافق گروه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2267712"/>
            <a:ext cx="128016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6472" y="2304288"/>
            <a:ext cx="113385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اجرای محلی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999232"/>
            <a:ext cx="4315968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lang="fa-IR">
                <a:solidFill>
                  <a:srgbClr val="0C1F30"/>
                </a:solidFill>
                <a:latin typeface="Tahoma"/>
              </a:rPr>
              <a:t>خانه، کلاس، مدرسه یا اردو</a:t>
            </a:r>
            <a:br/>
            <a:r>
              <a:rPr sz="1600" b="0" lang="fa-IR">
                <a:solidFill>
                  <a:srgbClr val="0C1F30"/>
                </a:solidFill>
                <a:latin typeface="Tahoma"/>
              </a:rPr>
              <a:t>نمونه: ساعت خاموشی و نوبت نظافت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1353312"/>
            <a:ext cx="5669280" cy="4224528"/>
          </a:xfrm>
          <a:prstGeom prst="roundRect">
            <a:avLst/>
          </a:prstGeom>
          <a:solidFill>
            <a:srgbClr val="05121F"/>
          </a:solidFill>
          <a:ln w="15875">
            <a:solidFill>
              <a:srgbClr val="204C5F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1645920"/>
            <a:ext cx="498348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FFC64E"/>
                </a:solidFill>
                <a:latin typeface="Tahoma"/>
              </a:rPr>
              <a:t>قانون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267712"/>
            <a:ext cx="14173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2304288"/>
            <a:ext cx="127101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جامعه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267712"/>
            <a:ext cx="16459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2304288"/>
            <a:ext cx="149961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مرجع رسمی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82912" y="2267712"/>
            <a:ext cx="157276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6064" y="2304288"/>
            <a:ext cx="1426464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ضمانت اجرا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2999232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lang="fa-IR">
                <a:solidFill>
                  <a:srgbClr val="C9EDFF"/>
                </a:solidFill>
                <a:latin typeface="Tahoma"/>
              </a:rPr>
              <a:t>برای همهٔ افرادِ مشمول لازم‌الاجراست</a:t>
            </a:r>
            <a:br/>
            <a:r>
              <a:rPr sz="1600" b="0" lang="fa-IR">
                <a:solidFill>
                  <a:srgbClr val="C9EDFF"/>
                </a:solidFill>
                <a:latin typeface="Tahoma"/>
              </a:rPr>
              <a:t>نمونه: رانندگی، مالکیت و اموال عمومی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788152"/>
            <a:ext cx="8183879" cy="29260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وجه مشترک: هر دو برای نظم و احترام به حق دیگران طراحی می‌شوند.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هستهٔ درس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قانون، چهار مسئلهٔ اصلی جامعه را حل می‌کند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۰:۵۵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۰۹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Progress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Core"/>
          <p:cNvSpPr/>
          <p:nvPr/>
        </p:nvSpPr>
        <p:spPr>
          <a:xfrm>
            <a:off x="4864608" y="2057400"/>
            <a:ext cx="2450592" cy="2450592"/>
          </a:xfrm>
          <a:prstGeom prst="ellipse">
            <a:avLst/>
          </a:prstGeom>
          <a:solidFill>
            <a:srgbClr val="203A41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2743200"/>
            <a:ext cx="1755648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FC64E"/>
                </a:solidFill>
                <a:latin typeface="Tahoma"/>
              </a:rPr>
              <a:t>چرا</a:t>
            </a:r>
            <a:br/>
            <a:r>
              <a:rPr sz="2100" b="1" lang="fa-IR">
                <a:solidFill>
                  <a:srgbClr val="FFC64E"/>
                </a:solidFill>
                <a:latin typeface="Tahoma"/>
              </a:rPr>
              <a:t>قانون؟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1353312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1508760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FFC64E"/>
                </a:solidFill>
                <a:latin typeface="Tahoma"/>
              </a:rPr>
              <a:t>حفظ حقوق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197510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زور جای حق را نگیرد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9992" y="1353312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4584" y="1508760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46DAB0"/>
                </a:solidFill>
                <a:latin typeface="Tahoma"/>
              </a:rPr>
              <a:t>نظم و امنیت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197510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رفتارها پیش‌بینی‌پذیر شوند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315968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471416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FF6D5E"/>
                </a:solidFill>
                <a:latin typeface="Tahoma"/>
              </a:rPr>
              <a:t>مسئولیت‌پذیری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" y="493775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پیامد رفتار را ببینیم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9992" y="4315968"/>
            <a:ext cx="2176272" cy="1115568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4471416"/>
            <a:ext cx="1847088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50" b="1" lang="fa-IR">
                <a:solidFill>
                  <a:srgbClr val="41ACE8"/>
                </a:solidFill>
                <a:latin typeface="Tahoma"/>
              </a:rPr>
              <a:t>حل اختلاف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4937759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30" b="0" lang="fa-IR">
                <a:solidFill>
                  <a:srgbClr val="C9EDFF"/>
                </a:solidFill>
                <a:latin typeface="Tahoma"/>
              </a:rPr>
              <a:t>دلیل جای دعوا را بگیرد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36392" y="1911095"/>
            <a:ext cx="1728216" cy="758953"/>
          </a:xfrm>
          <a:prstGeom prst="line">
            <a:avLst/>
          </a:prstGeom>
          <a:ln w="25400">
            <a:solidFill>
              <a:srgbClr val="FFC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15200" y="1911095"/>
            <a:ext cx="1764792" cy="758953"/>
          </a:xfrm>
          <a:prstGeom prst="line">
            <a:avLst/>
          </a:prstGeom>
          <a:ln w="25400">
            <a:solidFill>
              <a:srgbClr val="46D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36392" y="3931920"/>
            <a:ext cx="1728216" cy="941832"/>
          </a:xfrm>
          <a:prstGeom prst="line">
            <a:avLst/>
          </a:prstGeom>
          <a:ln w="25400">
            <a:solidFill>
              <a:srgbClr val="FF6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15200" y="3931920"/>
            <a:ext cx="1764792" cy="941832"/>
          </a:xfrm>
          <a:prstGeom prst="line">
            <a:avLst/>
          </a:prstGeom>
          <a:ln w="25400">
            <a:solidFill>
              <a:srgbClr val="41A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قانون در شهر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مال عمومی، «مال هیچ‌کس» نیست؛ مالِ همه است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۱۰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Progress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1335024"/>
            <a:ext cx="5166360" cy="4343400"/>
          </a:xfrm>
          <a:prstGeom prst="roundRect">
            <a:avLst/>
          </a:prstGeom>
          <a:solidFill>
            <a:srgbClr val="03111F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173736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46DAB0"/>
                </a:solidFill>
                <a:latin typeface="Tahoma"/>
              </a:rPr>
              <a:t>سه صحنه؛ یک مسئولیت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260604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46DAB0"/>
                </a:solidFill>
                <a:latin typeface="Tahoma"/>
              </a:rPr>
              <a:t>بوستان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2724912"/>
            <a:ext cx="502920" cy="22860"/>
          </a:xfrm>
          <a:prstGeom prst="rect">
            <a:avLst/>
          </a:prstGeom>
          <a:solidFill>
            <a:srgbClr val="46D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2" y="2606040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30" b="0" lang="fa-IR">
                <a:solidFill>
                  <a:srgbClr val="C9EDFF"/>
                </a:solidFill>
                <a:latin typeface="Tahoma"/>
              </a:rPr>
              <a:t>پاکیزگی و حفظ گیاهان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3392424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اتوبوس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67712" y="3511296"/>
            <a:ext cx="502920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2" y="3392424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30" b="0" lang="fa-IR">
                <a:solidFill>
                  <a:srgbClr val="C9EDFF"/>
                </a:solidFill>
                <a:latin typeface="Tahoma"/>
              </a:rPr>
              <a:t>مراقبت از تجهیزات و نوبت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178808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400" b="1" lang="fa-IR">
                <a:solidFill>
                  <a:srgbClr val="41ACE8"/>
                </a:solidFill>
                <a:latin typeface="Tahoma"/>
              </a:rPr>
              <a:t>کتابخانه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67712" y="4297680"/>
            <a:ext cx="502920" cy="22860"/>
          </a:xfrm>
          <a:prstGeom prst="rect">
            <a:avLst/>
          </a:prstGeom>
          <a:solidFill>
            <a:srgbClr val="41A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2" y="4178808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30" b="0" lang="fa-IR">
                <a:solidFill>
                  <a:srgbClr val="C9EDFF"/>
                </a:solidFill>
                <a:latin typeface="Tahoma"/>
              </a:rPr>
              <a:t>سکوت و امانت‌داری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" y="5084064"/>
            <a:ext cx="4480560" cy="30175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1" lang="fa-IR">
                <a:solidFill>
                  <a:srgbClr val="FF6D5E"/>
                </a:solidFill>
                <a:latin typeface="Tahoma"/>
              </a:rPr>
              <a:t>هزینهٔ تخریب را دوباره همه می‌پردازند.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کارگاه صفحهٔ ۱۵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اردو؛ جایی که یک قانون خوب فوراً دیده می‌شود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۰:۵۰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۱۱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Progress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76288" y="1280160"/>
            <a:ext cx="4407408" cy="4389120"/>
          </a:xfrm>
          <a:prstGeom prst="roundRect">
            <a:avLst/>
          </a:prstGeom>
          <a:solidFill>
            <a:srgbClr val="04121F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66420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FC64E"/>
                </a:solidFill>
                <a:latin typeface="Tahoma"/>
              </a:rPr>
              <a:t>ماموریت گروه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304288"/>
            <a:ext cx="3685032" cy="9601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قاعده‌ای بنویسید که</a:t>
            </a:r>
            <a:br/>
            <a:r>
              <a:rPr sz="1800" b="1" lang="fa-IR">
                <a:solidFill>
                  <a:srgbClr val="F8FCFF"/>
                </a:solidFill>
                <a:latin typeface="Tahoma"/>
              </a:rPr>
              <a:t>روشن، عادلانه و قابل اجرا باشد.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584448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20" b="1" lang="fa-IR">
                <a:solidFill>
                  <a:srgbClr val="46DAB0"/>
                </a:solidFill>
                <a:latin typeface="Tahoma"/>
              </a:rPr>
              <a:t>چه رفتاری؟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114800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20" b="1" lang="fa-IR">
                <a:solidFill>
                  <a:srgbClr val="41ACE8"/>
                </a:solidFill>
                <a:latin typeface="Tahoma"/>
              </a:rPr>
              <a:t>در چه زمان و مکان؟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645152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20" b="1" lang="fa-IR">
                <a:solidFill>
                  <a:srgbClr val="FF6D5E"/>
                </a:solidFill>
                <a:latin typeface="Tahoma"/>
              </a:rPr>
              <a:t>اگر رعایت نشد، چه می‌شود؟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5230368"/>
            <a:ext cx="30175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8392" y="5266944"/>
            <a:ext cx="2871215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قانون خوب، مسئله را حل می‌کند.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طراحی مقررات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پنج موقعیت اردو؛ پنج تصمیم کوتاه و دقیق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۰:۵۵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۱۲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Progress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1325880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" y="1527048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1563624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چادر و وسایل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2130552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جای مشخص • تحویل سالم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1325880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3440" y="1527048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1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1563624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1ACE8"/>
                </a:solidFill>
                <a:latin typeface="Tahoma"/>
              </a:rPr>
              <a:t>استراحت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130552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خاموشی توافقی • سکوت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1325880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76488" y="1527048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1563624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آتش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2130552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محل مجاز • حضور مسئول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3355848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0392" y="3557016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" y="3593592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غذا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416052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صف • سهم برابر • بدون اسراف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3355848"/>
            <a:ext cx="3456432" cy="1609344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9D3D4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63440" y="3557016"/>
            <a:ext cx="1234440" cy="347472"/>
          </a:xfrm>
          <a:prstGeom prst="roundRect">
            <a:avLst/>
          </a:prstGeom>
          <a:solidFill>
            <a:srgbClr val="E6EBEB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6592" y="3593592"/>
            <a:ext cx="1088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کار گروهی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16052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0C1F30"/>
                </a:solidFill>
                <a:latin typeface="Tahoma"/>
              </a:rPr>
              <a:t>نقش روشن • گزارش نتیجه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5440680"/>
            <a:ext cx="832104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FC64E"/>
                </a:solidFill>
                <a:latin typeface="Tahoma"/>
              </a:rPr>
              <a:t>قاعدهٔ خوب = هدف روشن + رفتار مشخص + پیامد متناسب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دو قطب راهنما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قانون حداقل را تضمین می‌کند؛ اخلاق، بهترین را پیشنهاد می‌دهد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۰:۵۰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۱۳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Progress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Ethics"/>
          <p:cNvSpPr/>
          <p:nvPr/>
        </p:nvSpPr>
        <p:spPr>
          <a:xfrm>
            <a:off x="594360" y="1325880"/>
            <a:ext cx="5257800" cy="4315968"/>
          </a:xfrm>
          <a:prstGeom prst="roundRect">
            <a:avLst/>
          </a:prstGeom>
          <a:solidFill>
            <a:srgbClr val="3A1C24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691640"/>
            <a:ext cx="4617720" cy="42062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F6D5E"/>
                </a:solidFill>
                <a:latin typeface="Tahoma"/>
              </a:rPr>
              <a:t>اخلاق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359152"/>
            <a:ext cx="4599432" cy="7772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8FCFF"/>
                </a:solidFill>
                <a:latin typeface="Tahoma"/>
              </a:rPr>
              <a:t>«انسانی‌ترین کار چیست؟»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1012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28000"/>
              </a:lnSpc>
            </a:pPr>
            <a:r>
              <a:rPr sz="1500" b="0" lang="fa-IR">
                <a:solidFill>
                  <a:srgbClr val="C9EDFF"/>
                </a:solidFill>
                <a:latin typeface="Tahoma"/>
              </a:rPr>
              <a:t>کمک به فرد نابینا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گذشت و مهربانی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رعایت حال سالمندان</a:t>
            </a:r>
          </a:p>
        </p:txBody>
      </p:sp>
      <p:sp>
        <p:nvSpPr>
          <p:cNvPr id="30" name="!!Law"/>
          <p:cNvSpPr/>
          <p:nvPr/>
        </p:nvSpPr>
        <p:spPr>
          <a:xfrm>
            <a:off x="6327648" y="1325880"/>
            <a:ext cx="5257800" cy="4315968"/>
          </a:xfrm>
          <a:prstGeom prst="roundRect">
            <a:avLst/>
          </a:prstGeom>
          <a:solidFill>
            <a:srgbClr val="2E2A18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69164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FC64E"/>
                </a:solidFill>
                <a:latin typeface="Tahoma"/>
              </a:rPr>
              <a:t>قانون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359152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8FCFF"/>
                </a:solidFill>
                <a:latin typeface="Tahoma"/>
              </a:rPr>
              <a:t>«چه کاری باید انجام شود؟»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1012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 rtl="1">
              <a:lnSpc>
                <a:spcPct val="128000"/>
              </a:lnSpc>
            </a:pPr>
            <a:r>
              <a:rPr sz="1500" b="0" lang="fa-IR">
                <a:solidFill>
                  <a:srgbClr val="C9EDFF"/>
                </a:solidFill>
                <a:latin typeface="Tahoma"/>
              </a:rPr>
              <a:t>ایست پشت چراغ قرمز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رعایت مالکیت</a:t>
            </a:r>
            <a:br/>
            <a:r>
              <a:rPr sz="1500" b="0" lang="fa-IR">
                <a:solidFill>
                  <a:srgbClr val="C9EDFF"/>
                </a:solidFill>
                <a:latin typeface="Tahoma"/>
              </a:rPr>
              <a:t>حفظ اموال عمومی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5413248"/>
            <a:ext cx="365760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5449824"/>
            <a:ext cx="351129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جامعهٔ مطلوب: قانون‌مدار + اخلاق‌مدار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دانستنی تکمیلی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قانون اساسی؛ سقفی که همهٔ قوانین زیر آن قرار می‌گیرند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۱۴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Progress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1335024"/>
            <a:ext cx="5257800" cy="4370832"/>
          </a:xfrm>
          <a:prstGeom prst="roundRect">
            <a:avLst/>
          </a:prstGeom>
          <a:solidFill>
            <a:srgbClr val="03111E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pezoid 26"/>
          <p:cNvSpPr/>
          <p:nvPr/>
        </p:nvSpPr>
        <p:spPr>
          <a:xfrm>
            <a:off x="896112" y="1764792"/>
            <a:ext cx="3977639" cy="786384"/>
          </a:xfrm>
          <a:prstGeom prst="trapezoid">
            <a:avLst/>
          </a:prstGeom>
          <a:solidFill>
            <a:srgbClr val="0E2D3C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1874519"/>
            <a:ext cx="3648456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1" lang="fa-IR">
                <a:solidFill>
                  <a:srgbClr val="FFC64E"/>
                </a:solidFill>
                <a:latin typeface="Tahoma"/>
              </a:rPr>
              <a:t>قانون اساسی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2185416"/>
            <a:ext cx="3648456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0" lang="fa-IR">
                <a:solidFill>
                  <a:srgbClr val="C9EDFF"/>
                </a:solidFill>
                <a:latin typeface="Tahoma"/>
              </a:rPr>
              <a:t>اصول بنیادین کشور</a:t>
            </a:r>
          </a:p>
        </p:txBody>
      </p:sp>
      <p:sp>
        <p:nvSpPr>
          <p:cNvPr id="30" name="Trapezoid 29"/>
          <p:cNvSpPr/>
          <p:nvPr/>
        </p:nvSpPr>
        <p:spPr>
          <a:xfrm>
            <a:off x="1261872" y="2788920"/>
            <a:ext cx="3246120" cy="786384"/>
          </a:xfrm>
          <a:prstGeom prst="trapezoid">
            <a:avLst/>
          </a:prstGeom>
          <a:solidFill>
            <a:srgbClr val="0E2D3C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6463" y="2898648"/>
            <a:ext cx="2916936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1" lang="fa-IR">
                <a:solidFill>
                  <a:srgbClr val="46DAB0"/>
                </a:solidFill>
                <a:latin typeface="Tahoma"/>
              </a:rPr>
              <a:t>قوانین عادی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3" y="3209544"/>
            <a:ext cx="2916936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0" lang="fa-IR">
                <a:solidFill>
                  <a:srgbClr val="C9EDFF"/>
                </a:solidFill>
                <a:latin typeface="Tahoma"/>
              </a:rPr>
              <a:t>موضوع‌های عمومی جامعه</a:t>
            </a:r>
          </a:p>
        </p:txBody>
      </p:sp>
      <p:sp>
        <p:nvSpPr>
          <p:cNvPr id="33" name="Trapezoid 32"/>
          <p:cNvSpPr/>
          <p:nvPr/>
        </p:nvSpPr>
        <p:spPr>
          <a:xfrm>
            <a:off x="1627631" y="3813048"/>
            <a:ext cx="2514600" cy="786384"/>
          </a:xfrm>
          <a:prstGeom prst="trapezoid">
            <a:avLst/>
          </a:prstGeom>
          <a:solidFill>
            <a:srgbClr val="0E2D3C"/>
          </a:solidFill>
          <a:ln w="15875">
            <a:solidFill>
              <a:srgbClr val="41ACE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92223" y="3922776"/>
            <a:ext cx="2185416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1" lang="fa-IR">
                <a:solidFill>
                  <a:srgbClr val="41ACE8"/>
                </a:solidFill>
                <a:latin typeface="Tahoma"/>
              </a:rPr>
              <a:t>مقررات اجرایی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92223" y="4233672"/>
            <a:ext cx="2185416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0" lang="fa-IR">
                <a:solidFill>
                  <a:srgbClr val="C9EDFF"/>
                </a:solidFill>
                <a:latin typeface="Tahoma"/>
              </a:rPr>
              <a:t>جزئیات اجرا در نهادها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2920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FFC64E"/>
                </a:solidFill>
                <a:latin typeface="Tahoma"/>
              </a:rPr>
              <a:t>همه‌پرسی: ۱۲ آذر ۱۳۵۸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تعادل شهروندی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۰:۵۰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۱۵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Progress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1298448"/>
            <a:ext cx="4407408" cy="4480560"/>
          </a:xfrm>
          <a:prstGeom prst="roundRect">
            <a:avLst/>
          </a:prstGeom>
          <a:solidFill>
            <a:srgbClr val="04121F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166420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46DAB0"/>
                </a:solidFill>
                <a:latin typeface="Tahoma"/>
              </a:rPr>
              <a:t>حق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2176272"/>
            <a:ext cx="3703320" cy="6400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 lang="fa-IR">
                <a:solidFill>
                  <a:srgbClr val="C9EDFF"/>
                </a:solidFill>
                <a:latin typeface="Tahoma"/>
              </a:rPr>
              <a:t>آموزش • امنیت • احترام</a:t>
            </a:r>
            <a:br/>
            <a:r>
              <a:rPr sz="1400" b="0" lang="fa-IR">
                <a:solidFill>
                  <a:srgbClr val="C9EDFF"/>
                </a:solidFill>
                <a:latin typeface="Tahoma"/>
              </a:rPr>
              <a:t>استفاده از امکانات عمومی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42048" y="3035808"/>
            <a:ext cx="3611880" cy="22860"/>
          </a:xfrm>
          <a:prstGeom prst="rect">
            <a:avLst/>
          </a:prstGeom>
          <a:solidFill>
            <a:srgbClr val="4B7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3383280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300" b="1" lang="fa-IR">
                <a:solidFill>
                  <a:srgbClr val="FF6D5E"/>
                </a:solidFill>
                <a:latin typeface="Tahoma"/>
              </a:rPr>
              <a:t>تکلیف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3904487"/>
            <a:ext cx="370332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 lang="fa-IR">
                <a:solidFill>
                  <a:srgbClr val="C9EDFF"/>
                </a:solidFill>
                <a:latin typeface="Tahoma"/>
              </a:rPr>
              <a:t>رعایت مقررات • حفظ اموال</a:t>
            </a:r>
            <a:br/>
            <a:r>
              <a:rPr sz="1400" b="0" lang="fa-IR">
                <a:solidFill>
                  <a:srgbClr val="C9EDFF"/>
                </a:solidFill>
                <a:latin typeface="Tahoma"/>
              </a:rPr>
              <a:t>احترام به نوبت و دیگران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4927" y="5074920"/>
            <a:ext cx="324612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5111496"/>
            <a:ext cx="3099815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هیچ حقی بدون تکلیف پایدار نیست.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چارچوب تصمیم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0C1F30"/>
                </a:solidFill>
                <a:latin typeface="Tahoma"/>
              </a:rPr>
              <a:t>پیش از عمل، سه سؤال از خودت بپرس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0C1F30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۰:۴۰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۱۶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Progress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BEC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Decision"/>
          <p:cNvSpPr/>
          <p:nvPr/>
        </p:nvSpPr>
        <p:spPr>
          <a:xfrm>
            <a:off x="658368" y="1481328"/>
            <a:ext cx="3429000" cy="33101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56815" y="1874519"/>
            <a:ext cx="822960" cy="822960"/>
          </a:xfrm>
          <a:prstGeom prst="ellipse">
            <a:avLst/>
          </a:prstGeom>
          <a:solidFill>
            <a:srgbClr val="FF6D5E"/>
          </a:solidFill>
          <a:ln>
            <a:noFill/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56815" y="205740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926080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000" b="1" lang="fa-IR">
                <a:solidFill>
                  <a:srgbClr val="FF6D5E"/>
                </a:solidFill>
                <a:latin typeface="Tahoma"/>
              </a:rPr>
              <a:t>آسیب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584448"/>
            <a:ext cx="2697480" cy="6217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چه کسی از این تصمیم آسیب می‌بیند؟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53128" y="1481328"/>
            <a:ext cx="3429000" cy="33101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51576" y="1874519"/>
            <a:ext cx="822960" cy="822960"/>
          </a:xfrm>
          <a:prstGeom prst="ellipse">
            <a:avLst/>
          </a:prstGeom>
          <a:solidFill>
            <a:srgbClr val="FFC64E"/>
          </a:solidFill>
          <a:ln>
            <a:noFill/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51576" y="205740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2926080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000" b="1" lang="fa-IR">
                <a:solidFill>
                  <a:srgbClr val="FFC64E"/>
                </a:solidFill>
                <a:latin typeface="Tahoma"/>
              </a:rPr>
              <a:t>همگانی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584448"/>
            <a:ext cx="2697480" cy="6217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اگر همه همین کار را کنند چه می‌شود؟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7888" y="1481328"/>
            <a:ext cx="3429000" cy="3310128"/>
          </a:xfrm>
          <a:prstGeom prst="roundRect">
            <a:avLst/>
          </a:prstGeom>
          <a:solidFill>
            <a:srgbClr val="F8FCFF"/>
          </a:solidFill>
          <a:ln w="15875">
            <a:solidFill>
              <a:srgbClr val="CAD5D6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46336" y="1874519"/>
            <a:ext cx="822960" cy="822960"/>
          </a:xfrm>
          <a:prstGeom prst="ellipse">
            <a:avLst/>
          </a:prstGeom>
          <a:solidFill>
            <a:srgbClr val="46DAB0"/>
          </a:solidFill>
          <a:ln>
            <a:noFill/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46336" y="205740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8FCFF"/>
                </a:solidFill>
                <a:latin typeface="Tahoma"/>
              </a:rPr>
              <a:t>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926080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000" b="1" lang="fa-IR">
                <a:solidFill>
                  <a:srgbClr val="46DAB0"/>
                </a:solidFill>
                <a:latin typeface="Tahoma"/>
              </a:rPr>
              <a:t>مسئولیت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3584448"/>
            <a:ext cx="2697480" cy="6217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00" b="0" lang="fa-IR">
                <a:solidFill>
                  <a:srgbClr val="0C1F30"/>
                </a:solidFill>
                <a:latin typeface="Tahoma"/>
              </a:rPr>
              <a:t>آیا پیامد انتخابم را می‌پذیرم؟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413248"/>
            <a:ext cx="8915400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600" b="1" lang="fa-IR">
                <a:solidFill>
                  <a:srgbClr val="FFC64E"/>
                </a:solidFill>
                <a:latin typeface="Tahoma"/>
              </a:rPr>
              <a:t>اگر پاسخ نگران‌کننده است، آزادی از مرزِ مسئولیت عبور کرده است.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SectionLabel"/>
          <p:cNvSpPr txBox="1"/>
          <p:nvPr/>
        </p:nvSpPr>
        <p:spPr>
          <a:xfrm>
            <a:off x="530352" y="256032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FC64E"/>
                </a:solidFill>
                <a:latin typeface="Tahoma"/>
              </a:rPr>
              <a:t>چالش ۶۰ ثانیه‌ای</a:t>
            </a:r>
          </a:p>
        </p:txBody>
      </p:sp>
      <p:sp>
        <p:nvSpPr>
          <p:cNvPr id="4" name="!!MainTitle"/>
          <p:cNvSpPr txBox="1"/>
          <p:nvPr/>
        </p:nvSpPr>
        <p:spPr>
          <a:xfrm>
            <a:off x="530352" y="585216"/>
            <a:ext cx="11018520" cy="4754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8FCFF"/>
                </a:solidFill>
                <a:latin typeface="Tahoma"/>
              </a:rPr>
              <a:t>قاضی کلاس باشید؛ حقِ نقض‌شده را پیدا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۱:۰۰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۱۷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Progress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1417320"/>
            <a:ext cx="3456432" cy="3611880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6D5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1719072"/>
            <a:ext cx="56692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6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1755648"/>
            <a:ext cx="420623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6D5E"/>
                </a:solidFill>
                <a:latin typeface="Tahoma"/>
              </a:rPr>
              <a:t>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350008"/>
            <a:ext cx="2852928" cy="6766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صدای بلند نیمه‌شب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144" y="3310128"/>
            <a:ext cx="2395728" cy="22860"/>
          </a:xfrm>
          <a:prstGeom prst="rect">
            <a:avLst/>
          </a:prstGeom>
          <a:solidFill>
            <a:srgbClr val="45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3767328"/>
            <a:ext cx="2724912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FF6D5E"/>
                </a:solidFill>
                <a:latin typeface="Tahoma"/>
              </a:rPr>
              <a:t>حقِ آرامش همسایه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3" y="1417320"/>
            <a:ext cx="3456432" cy="3611880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FFC64E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0016" y="1719072"/>
            <a:ext cx="56692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1755648"/>
            <a:ext cx="420623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2350008"/>
            <a:ext cx="2852928" cy="6766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عبور موتور از پیاده‌رو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3310128"/>
            <a:ext cx="2395728" cy="22860"/>
          </a:xfrm>
          <a:prstGeom prst="rect">
            <a:avLst/>
          </a:prstGeom>
          <a:solidFill>
            <a:srgbClr val="45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9744" y="3767328"/>
            <a:ext cx="2724912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FFC64E"/>
                </a:solidFill>
                <a:latin typeface="Tahoma"/>
              </a:rPr>
              <a:t>حقِ امنیت عابر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6175" y="1417320"/>
            <a:ext cx="3456432" cy="3611880"/>
          </a:xfrm>
          <a:prstGeom prst="roundRect">
            <a:avLst/>
          </a:prstGeom>
          <a:solidFill>
            <a:srgbClr val="0B273A"/>
          </a:solidFill>
          <a:ln w="15875">
            <a:solidFill>
              <a:srgbClr val="46DAB0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22207" y="1719072"/>
            <a:ext cx="566928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46D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59" y="1755648"/>
            <a:ext cx="420623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46DAB0"/>
                </a:solidFill>
                <a:latin typeface="Tahoma"/>
              </a:rPr>
              <a:t>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58784" y="2350008"/>
            <a:ext cx="2852928" cy="6766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8FCFF"/>
                </a:solidFill>
                <a:latin typeface="Tahoma"/>
              </a:rPr>
              <a:t>نوشتن روی صندلی اتوبوس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96528" y="3310128"/>
            <a:ext cx="2395728" cy="22860"/>
          </a:xfrm>
          <a:prstGeom prst="rect">
            <a:avLst/>
          </a:prstGeom>
          <a:solidFill>
            <a:srgbClr val="45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1936" y="3767328"/>
            <a:ext cx="2724912" cy="5943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20" b="1" lang="fa-IR">
                <a:solidFill>
                  <a:srgbClr val="46DAB0"/>
                </a:solidFill>
                <a:latin typeface="Tahoma"/>
              </a:rPr>
              <a:t>حقِ استفادهٔ عمومی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0" y="5349240"/>
            <a:ext cx="452628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3632" y="5385816"/>
            <a:ext cx="437997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پاسخ کامل = رفتار + حقِ نقض‌شده + پیامد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>
            <a:outerShdw blurRad="72000" dist="30000" dir="2700000" algn="ctr" rotWithShape="0">
              <a:srgbClr val="000000">
                <a:alpha val="52000"/>
              </a:srgbClr>
            </a:outerShdw>
          </a:effectLst>
        </p:spPr>
      </p:pic>
      <p:sp>
        <p:nvSpPr>
          <p:cNvPr id="3" name="!!GoldRail"/>
          <p:cNvSpPr/>
          <p:nvPr/>
        </p:nvSpPr>
        <p:spPr>
          <a:xfrm>
            <a:off x="566928" y="566928"/>
            <a:ext cx="54864" cy="534924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85800"/>
            <a:ext cx="4663440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FC64E"/>
                </a:solidFill>
                <a:latin typeface="Tahoma"/>
              </a:rPr>
              <a:t>جمع‌بندی • یک جمله برای ماندن</a:t>
            </a:r>
          </a:p>
        </p:txBody>
      </p:sp>
      <p:sp>
        <p:nvSpPr>
          <p:cNvPr id="5" name="!!HeroTitle"/>
          <p:cNvSpPr txBox="1"/>
          <p:nvPr/>
        </p:nvSpPr>
        <p:spPr>
          <a:xfrm>
            <a:off x="822960" y="1325880"/>
            <a:ext cx="5257800" cy="14813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100" b="1" lang="fa-IR">
                <a:solidFill>
                  <a:srgbClr val="F8FCFF"/>
                </a:solidFill>
                <a:latin typeface="Tahoma"/>
              </a:rPr>
              <a:t>قانون یعنی</a:t>
            </a:r>
            <a:br/>
            <a:r>
              <a:rPr sz="3100" b="1" lang="fa-IR">
                <a:solidFill>
                  <a:srgbClr val="F8FCFF"/>
                </a:solidFill>
                <a:latin typeface="Tahoma"/>
              </a:rPr>
              <a:t>احترام به حقِ خود و دیگران.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82112"/>
            <a:ext cx="4919472" cy="6858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C9EDFF"/>
                </a:solidFill>
                <a:latin typeface="Tahoma"/>
              </a:rPr>
              <a:t>حق را بشناس • تکلیف را انجام بده • پیامد را ببین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14800"/>
            <a:ext cx="4526280" cy="228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 lang="fa-IR">
                <a:solidFill>
                  <a:srgbClr val="46DAB0"/>
                </a:solidFill>
                <a:latin typeface="Tahoma"/>
              </a:rPr>
              <a:t>سپاس از توجه شما</a:t>
            </a:r>
            <a:br/>
            <a:r>
              <a:rPr sz="1500" b="1" lang="fa-IR">
                <a:solidFill>
                  <a:srgbClr val="46DAB0"/>
                </a:solidFill>
                <a:latin typeface="Tahoma"/>
              </a:rPr>
              <a:t>گروه ۶ • کلاس ۷/۳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285232"/>
            <a:ext cx="3520440" cy="347472"/>
          </a:xfrm>
          <a:prstGeom prst="roundRect">
            <a:avLst/>
          </a:prstGeom>
          <a:solidFill>
            <a:srgbClr val="0F2B3C"/>
          </a:solidFill>
          <a:ln w="15875">
            <a:solidFill>
              <a:srgbClr val="FFC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21808"/>
            <a:ext cx="3374136" cy="24688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FFC64E"/>
                </a:solidFill>
                <a:latin typeface="Tahoma"/>
              </a:rPr>
              <a:t>جامعهٔ بهتر، از انتخاب مسئولانهٔ من آغاز می‌شود.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2331720" cy="16459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C9EDFF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6473952"/>
            <a:ext cx="8686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850" b="0" lang="fa-IR">
                <a:solidFill>
                  <a:srgbClr val="8AA9B8"/>
                </a:solidFill>
                <a:latin typeface="Tahoma"/>
              </a:rPr>
              <a:t>زمان ۰:۳۰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6428232"/>
            <a:ext cx="749808" cy="2377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FC64E"/>
                </a:solidFill>
                <a:latin typeface="Tahoma"/>
              </a:rPr>
              <a:t>۱۸ / ۱۸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412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473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4533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0593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6654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2714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8775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4835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5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6956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30168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0772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51376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1979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72583" y="6291072"/>
            <a:ext cx="192024" cy="32004"/>
          </a:xfrm>
          <a:prstGeom prst="rect">
            <a:avLst/>
          </a:prstGeom>
          <a:solidFill>
            <a:srgbClr val="37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rogress"/>
          <p:cNvSpPr/>
          <p:nvPr/>
        </p:nvSpPr>
        <p:spPr>
          <a:xfrm>
            <a:off x="4933188" y="6291072"/>
            <a:ext cx="192024" cy="32004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۴ شاهکار کنفرانسی</dc:title>
  <dc:subject>درس ۳ مطالعات اجتماعی پایه هفتم — ارائه ۱۸ اسلایدی</dc:subject>
  <dc:creator>گروه ۶ از کلاس ۷/۳</dc:creator>
  <cp:keywords/>
  <dc:description>نسخه سبک و حرفه‌ای: بدون GIF و صدا؛ با تایپوگرافی درشت، تنوع چیدمان و Morph هدفمند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