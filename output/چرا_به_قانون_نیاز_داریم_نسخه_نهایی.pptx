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wav" ContentType="audio/wav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2.jpg" /><ns0:Relationship Id="rId3" Type="http://schemas.openxmlformats.org/officeDocument/2006/relationships/image" Target="../media/image3.gif" /><ns0:Relationship Id="rIdSfx1" Type="http://schemas.openxmlformats.org/officeDocument/2006/relationships/audio" Target="../media/final_whoosh.wav" /></ns0: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4.jpg" /><ns0:Relationship Id="rId3" Type="http://schemas.openxmlformats.org/officeDocument/2006/relationships/image" Target="../media/image3.gif" /><ns0:Relationship Id="rIdSfx1" Type="http://schemas.openxmlformats.org/officeDocument/2006/relationships/audio" Target="../media/final_whoosh.wav" /></ns0: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8.jpg" /><ns0:Relationship Id="rId3" Type="http://schemas.openxmlformats.org/officeDocument/2006/relationships/image" Target="../media/image3.gif" /><ns0:Relationship Id="rIdSfx1" Type="http://schemas.openxmlformats.org/officeDocument/2006/relationships/audio" Target="../media/final_chime.wav" /></ns0: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Sfx1" Type="http://schemas.openxmlformats.org/officeDocument/2006/relationships/audio" Target="../media/final_whoosh.wav" /></ns0: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.jpg" /><ns0:Relationship Id="rId3" Type="http://schemas.openxmlformats.org/officeDocument/2006/relationships/image" Target="../media/image3.gif" /><ns0:Relationship Id="rIdSfx1" Type="http://schemas.openxmlformats.org/officeDocument/2006/relationships/audio" Target="../media/final_chime.wav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Rail"/>
          <p:cNvSpPr/>
          <p:nvPr/>
        </p:nvSpPr>
        <p:spPr>
          <a:xfrm>
            <a:off x="640080" y="530352"/>
            <a:ext cx="41148" cy="5413248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"/>
            <a:ext cx="530352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50" b="1" lang="fa-IR">
                <a:solidFill>
                  <a:srgbClr val="F1B73E"/>
                </a:solidFill>
                <a:latin typeface="Tahoma"/>
              </a:rPr>
              <a:t>درس ۳ • مطالعات اجتماعی پایه هفتم</a:t>
            </a:r>
          </a:p>
        </p:txBody>
      </p:sp>
      <p:sp>
        <p:nvSpPr>
          <p:cNvPr id="5" name="!!Hero"/>
          <p:cNvSpPr txBox="1"/>
          <p:nvPr/>
        </p:nvSpPr>
        <p:spPr>
          <a:xfrm>
            <a:off x="896112" y="1298448"/>
            <a:ext cx="5394960" cy="13350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800" b="1" lang="fa-IR">
                <a:solidFill>
                  <a:srgbClr val="F7FAFC"/>
                </a:solidFill>
                <a:latin typeface="Tahoma"/>
              </a:rPr>
              <a:t>چرا به قانون</a:t>
            </a:r>
            <a:br/>
            <a:r>
              <a:rPr sz="3800" b="1" lang="fa-IR">
                <a:solidFill>
                  <a:srgbClr val="F7FAFC"/>
                </a:solidFill>
                <a:latin typeface="Tahoma"/>
              </a:rPr>
              <a:t>نیاز داریم؟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48920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000" b="0" lang="fa-IR">
                <a:solidFill>
                  <a:srgbClr val="C9E5F1"/>
                </a:solidFill>
                <a:latin typeface="Tahoma"/>
              </a:rPr>
              <a:t>نظم، امنیت، عدالت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75887"/>
            <a:ext cx="4251960" cy="18288"/>
          </a:xfrm>
          <a:prstGeom prst="rect">
            <a:avLst/>
          </a:prstGeom>
          <a:solidFill>
            <a:srgbClr val="52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9352"/>
            <a:ext cx="4800600" cy="8046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50" b="0" lang="fa-IR">
                <a:solidFill>
                  <a:srgbClr val="F7FAFC"/>
                </a:solidFill>
                <a:latin typeface="Tahoma"/>
              </a:rPr>
              <a:t>گروه ۶ • کلاس ۷/۳</a:t>
            </a:r>
            <a:br/>
            <a:r>
              <a:rPr sz="1150" b="0" lang="fa-IR">
                <a:solidFill>
                  <a:srgbClr val="F7FAFC"/>
                </a:solidFill>
                <a:latin typeface="Tahoma"/>
              </a:rPr>
              <a:t>امین کریم‌پور · عزیزی · طاها عابدی‌فر · گله‌دار · محمدرضا فولادی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446520"/>
            <a:ext cx="27432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0" lang="fa-IR">
                <a:solidFill>
                  <a:srgbClr val="7E99A9"/>
                </a:solidFill>
                <a:latin typeface="Tahoma"/>
              </a:rPr>
              <a:t>مطالعات اجتماعی هفتم • درس 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6419088"/>
            <a:ext cx="23317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F1B73E"/>
                </a:solidFill>
                <a:latin typeface="Tahoma"/>
              </a:rPr>
              <a:t>ارائه: امین کریم‌پور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6391656"/>
            <a:ext cx="74980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F1B73E"/>
                </a:solidFill>
                <a:latin typeface="Tahoma"/>
              </a:rPr>
              <a:t>۰۱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6254496"/>
            <a:ext cx="10936224" cy="16459"/>
          </a:xfrm>
          <a:prstGeom prst="rect">
            <a:avLst/>
          </a:prstGeom>
          <a:solidFill>
            <a:srgbClr val="2D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21792" y="6236208"/>
            <a:ext cx="607568" cy="41148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opShade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56032"/>
            <a:ext cx="1572768" cy="301752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F1B73E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704088" y="283464"/>
            <a:ext cx="1408176" cy="2103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1B73E"/>
                </a:solidFill>
                <a:latin typeface="Tahoma"/>
              </a:rPr>
              <a:t>فهرست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40080"/>
            <a:ext cx="1069848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7FAFC"/>
                </a:solidFill>
                <a:latin typeface="Tahoma"/>
              </a:rPr>
              <a:t>مسیر ده‌دقیقه‌ای ارائه</a:t>
            </a:r>
          </a:p>
        </p:txBody>
      </p:sp>
      <p:sp>
        <p:nvSpPr>
          <p:cNvPr id="7" name="!!Rule"/>
          <p:cNvSpPr/>
          <p:nvPr/>
        </p:nvSpPr>
        <p:spPr>
          <a:xfrm>
            <a:off x="621792" y="1161288"/>
            <a:ext cx="1325880" cy="23774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27432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0" lang="fa-IR">
                <a:solidFill>
                  <a:srgbClr val="7E99A9"/>
                </a:solidFill>
                <a:latin typeface="Tahoma"/>
              </a:rPr>
              <a:t>مطالعات اجتماعی هفتم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419088"/>
            <a:ext cx="23317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F1B73E"/>
                </a:solidFill>
                <a:latin typeface="Tahoma"/>
              </a:rPr>
              <a:t>ارائه: امین کریم‌پور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391656"/>
            <a:ext cx="74980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F1B73E"/>
                </a:solidFill>
                <a:latin typeface="Tahoma"/>
              </a:rPr>
              <a:t>۰۲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254496"/>
            <a:ext cx="10936224" cy="16459"/>
          </a:xfrm>
          <a:prstGeom prst="rect">
            <a:avLst/>
          </a:prstGeom>
          <a:solidFill>
            <a:srgbClr val="2D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21792" y="6236208"/>
            <a:ext cx="1215136" cy="41148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2144" y="1481328"/>
            <a:ext cx="21945" cy="4187952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399032"/>
            <a:ext cx="438912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600" b="1" lang="fa-IR">
                <a:solidFill>
                  <a:srgbClr val="F1B73E"/>
                </a:solidFill>
                <a:latin typeface="Tahoma"/>
              </a:rPr>
              <a:t>۰۱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399032"/>
            <a:ext cx="62179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800" b="1" lang="fa-IR">
                <a:solidFill>
                  <a:srgbClr val="F7FAFC"/>
                </a:solidFill>
                <a:latin typeface="Tahoma"/>
              </a:rPr>
              <a:t>شروع مسئله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435608"/>
            <a:ext cx="2057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E99A9"/>
                </a:solidFill>
                <a:latin typeface="Tahoma"/>
              </a:rPr>
              <a:t>اسلاید 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1883664"/>
            <a:ext cx="9052560" cy="12801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49424"/>
            <a:ext cx="438912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600" b="1" lang="fa-IR">
                <a:solidFill>
                  <a:srgbClr val="45A2E0"/>
                </a:solidFill>
                <a:latin typeface="Tahoma"/>
              </a:rPr>
              <a:t>۰۲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249424"/>
            <a:ext cx="62179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800" b="1" lang="fa-IR">
                <a:solidFill>
                  <a:srgbClr val="F7FAFC"/>
                </a:solidFill>
                <a:latin typeface="Tahoma"/>
              </a:rPr>
              <a:t>چرا قانون؟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286000"/>
            <a:ext cx="2057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E99A9"/>
                </a:solidFill>
                <a:latin typeface="Tahoma"/>
              </a:rPr>
              <a:t>اسلایدهای ۴ تا 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2734056"/>
            <a:ext cx="8759952" cy="12801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099816"/>
            <a:ext cx="438912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600" b="1" lang="fa-IR">
                <a:solidFill>
                  <a:srgbClr val="50CDD7"/>
                </a:solidFill>
                <a:latin typeface="Tahoma"/>
              </a:rPr>
              <a:t>۰۳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099816"/>
            <a:ext cx="62179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800" b="1" lang="fa-IR">
                <a:solidFill>
                  <a:srgbClr val="F7FAFC"/>
                </a:solidFill>
                <a:latin typeface="Tahoma"/>
              </a:rPr>
              <a:t>زندگی روزمره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136392"/>
            <a:ext cx="2057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E99A9"/>
                </a:solidFill>
                <a:latin typeface="Tahoma"/>
              </a:rPr>
              <a:t>اسلایدهای ۸ تا ۱۱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3584448"/>
            <a:ext cx="8467344" cy="12801"/>
          </a:xfrm>
          <a:prstGeom prst="rect">
            <a:avLst/>
          </a:prstGeom>
          <a:solidFill>
            <a:srgbClr val="50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950208"/>
            <a:ext cx="438912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600" b="1" lang="fa-IR">
                <a:solidFill>
                  <a:srgbClr val="F1B73E"/>
                </a:solidFill>
                <a:latin typeface="Tahoma"/>
              </a:rPr>
              <a:t>۰۴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950208"/>
            <a:ext cx="62179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800" b="1" lang="fa-IR">
                <a:solidFill>
                  <a:srgbClr val="F7FAFC"/>
                </a:solidFill>
                <a:latin typeface="Tahoma"/>
              </a:rPr>
              <a:t>حق و قانون اساسی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986784"/>
            <a:ext cx="2057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E99A9"/>
                </a:solidFill>
                <a:latin typeface="Tahoma"/>
              </a:rPr>
              <a:t>اسلایدهای ۱۲ تا ۱۵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" y="4434840"/>
            <a:ext cx="8174736" cy="12801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800600"/>
            <a:ext cx="438912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600" b="1" lang="fa-IR">
                <a:solidFill>
                  <a:srgbClr val="45A2E0"/>
                </a:solidFill>
                <a:latin typeface="Tahoma"/>
              </a:rPr>
              <a:t>۰۵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800600"/>
            <a:ext cx="62179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800" b="1" lang="fa-IR">
                <a:solidFill>
                  <a:srgbClr val="F7FAFC"/>
                </a:solidFill>
                <a:latin typeface="Tahoma"/>
              </a:rPr>
              <a:t>جمع‌بندی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837176"/>
            <a:ext cx="2057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E99A9"/>
                </a:solidFill>
                <a:latin typeface="Tahoma"/>
              </a:rPr>
              <a:t>اسلایدهای ۱۶ تا ۱۸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17320" y="5285232"/>
            <a:ext cx="7882128" cy="12801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2" name="!!Scene" descr="city_left.jp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sp>
        <ns0:nvSpPr>
          <ns0:cNvPr id="3" name="!!TopShade"/>
          <ns0:cNvSpPr/>
          <ns0:nvPr/>
        </ns0:nvSpPr>
        <ns0:spPr>
          <ns1:xfrm>
            <ns1:off x="0" y="0"/>
            <ns1:ext cx="12191695" cy="1243584"/>
          </ns1:xfrm>
          <ns1:prstGeom prst="rect">
            <ns1:avLst/>
          </ns1:prstGeom>
          <ns1:solidFill>
            <ns1:srgbClr val="030A11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621792" y="256032"/>
            <ns1:ext cx="1572768" cy="301752"/>
          </ns1:xfrm>
          <ns1:prstGeom prst="roundRect">
            <ns1:avLst/>
          </ns1:prstGeom>
          <ns1:solidFill>
            <ns1:srgbClr val="061624"/>
          </ns1:solidFill>
          <ns1:ln w="15875">
            <ns1:solidFill>
              <ns1:srgbClr val="F1B73E"/>
            </ns1:solidFill>
          </ns1:ln>
          <ns1:effectLst>
            <ns1:outerShdw blurRad="65000" dist="25000" dir="2700000" algn="ctr" rotWithShape="0">
              <ns1:srgbClr val="000000">
                <ns1:alpha val="45000"/>
              </ns1:srgbClr>
            </ns1:outerShdw>
          </ns1:effectLst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!!Kicker"/>
          <ns0:cNvSpPr txBox="1"/>
          <ns0:nvPr/>
        </ns0:nvSpPr>
        <ns0:spPr>
          <ns1:xfrm>
            <ns1:off x="704088" y="283464"/>
            <ns1:ext cx="1408176" cy="2103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950" b="1" lang="fa-IR">
                <ns1:solidFill>
                  <ns1:srgbClr val="F1B73E"/>
                </ns1:solidFill>
                <ns1:latin typeface="Tahoma"/>
              </ns1:rPr>
              <ns1:t>شروع مسئله</ns1:t>
            </ns1:r>
          </ns1:p>
        </ns0:txBody>
      </ns0:sp>
      <ns0:sp>
        <ns0:nvSpPr>
          <ns0:cNvPr id="6" name="!!Title"/>
          <ns0:cNvSpPr txBox="1"/>
          <ns0:nvPr/>
        </ns0:nvSpPr>
        <ns0:spPr>
          <ns1:xfrm>
            <ns1:off x="621792" y="640080"/>
            <ns1:ext cx="10698480" cy="4389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2900" b="1" lang="fa-IR">
                <ns1:solidFill>
                  <ns1:srgbClr val="F7FAFC"/>
                </ns1:solidFill>
                <ns1:latin typeface="Tahoma"/>
              </ns1:rPr>
              <ns1:t>اگر یک روز هیچ قانونی نبود…</ns1:t>
            </ns1:r>
          </ns1:p>
        </ns0:txBody>
      </ns0:sp>
      <ns0:sp>
        <ns0:nvSpPr>
          <ns0:cNvPr id="7" name="!!Rule"/>
          <ns0:cNvSpPr/>
          <ns0:nvPr/>
        </ns0:nvSpPr>
        <ns0:spPr>
          <ns1:xfrm>
            <ns1:off x="621792" y="1161288"/>
            <ns1:ext cx="1325880" cy="23774"/>
          </ns1:xfrm>
          <ns1:prstGeom prst="rect">
            <ns1:avLst/>
          </ns1:prstGeom>
          <ns1:solidFill>
            <ns1:srgbClr val="F1B73E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621792" y="6446520"/>
            <ns1:ext cx="2743200" cy="201168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850" b="0" lang="fa-IR">
                <ns1:solidFill>
                  <ns1:srgbClr val="7E99A9"/>
                </ns1:solidFill>
                <ns1:latin typeface="Tahoma"/>
              </ns1:rPr>
              <ns1:t>مطالعات اجتماعی هفتم • درس ۳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7909560" y="6419088"/>
            <ns1:ext cx="2331720" cy="201168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850" b="1" lang="fa-IR">
                <ns1:solidFill>
                  <ns1:srgbClr val="F1B73E"/>
                </ns1:solidFill>
                <ns1:latin typeface="Tahoma"/>
              </ns1:rPr>
              <ns1:t>ارائه: امین کریم‌پور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10808208" y="6391656"/>
            <ns1:ext cx="749808" cy="25603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1000" b="1" lang="fa-IR">
                <ns1:solidFill>
                  <ns1:srgbClr val="F1B73E"/>
                </ns1:solidFill>
                <ns1:latin typeface="Tahoma"/>
              </ns1:rPr>
              <ns1:t>۰۳ / ۱۸</ns1:t>
            </ns1:r>
          </ns1:p>
        </ns0:txBody>
      </ns0:sp>
      <ns0:sp>
        <ns0:nvSpPr>
          <ns0:cNvPr id="11" name="Rectangle 10"/>
          <ns0:cNvSpPr/>
          <ns0:nvPr/>
        </ns0:nvSpPr>
        <ns0:spPr>
          <ns1:xfrm>
            <ns1:off x="621792" y="6254496"/>
            <ns1:ext cx="10936224" cy="16459"/>
          </ns1:xfrm>
          <ns1:prstGeom prst="rect">
            <ns1:avLst/>
          </ns1:prstGeom>
          <ns1:solidFill>
            <ns1:srgbClr val="2D435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!!Progress"/>
          <ns0:cNvSpPr/>
          <ns0:nvPr/>
        </ns0:nvSpPr>
        <ns0:spPr>
          <ns1:xfrm>
            <ns1:off x="621792" y="6236208"/>
            <ns1:ext cx="1822704" cy="41148"/>
          </ns1:xfrm>
          <ns1:prstGeom prst="rect">
            <ns1:avLst/>
          </ns1:prstGeom>
          <ns1:solidFill>
            <ns1:srgbClr val="F1B73E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13" name="Picture 12" descr="pulse.gif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10652760" y="5074920"/>
            <ns1:ext cx="658368" cy="658368"/>
          </ns1:xfrm>
          <ns1:prstGeom prst="rect">
            <ns1:avLst/>
          </ns1:prstGeom>
        </ns0:spPr>
      </ns0:pic>
      <ns0:sp>
        <ns0:nvSpPr>
          <ns0:cNvPr id="14" name="Rounded Rectangle 13"/>
          <ns0:cNvSpPr/>
          <ns0:nvPr/>
        </ns0:nvSpPr>
        <ns0:spPr>
          <ns1:xfrm>
            <ns1:off x="640080" y="1389888"/>
            <ns1:ext cx="5129784" cy="1993392"/>
          </ns1:xfrm>
          <ns1:prstGeom prst="roundRect">
            <ns1:avLst/>
          </ns1:prstGeom>
          <ns1:solidFill>
            <ns1:srgbClr val="061A2A"/>
          </ns1:solidFill>
          <ns1:ln w="15875">
            <ns1:solidFill>
              <ns1:srgbClr val="5B7A8B"/>
            </ns1:solidFill>
          </ns1:ln>
          <ns1:effectLst>
            <ns1:outerShdw blurRad="65000" dist="25000" dir="2700000" algn="ctr" rotWithShape="0">
              <ns1:srgbClr val="000000">
                <ns1:alpha val="45000"/>
              </ns1:srgbClr>
            </ns1:outerShdw>
          </ns1:effectLst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67512" y="1417320"/>
            <ns1:ext cx="5074920" cy="45720"/>
          </ns1:xfrm>
          <ns1:prstGeom prst="roundRect">
            <ns1:avLst/>
          </ns1:prstGeom>
          <ns1:solidFill>
            <ns1:srgbClr val="F7FAFC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5719572" y="1572768"/>
            <ns1:ext cx="32004" cy="1627632"/>
          </ns1:xfrm>
          <ns1:prstGeom prst="roundRect">
            <ns1:avLst/>
          </ns1:prstGeom>
          <ns1:solidFill>
            <ns1:srgbClr val="F1B73E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804672" y="1536192"/>
            <ns1:ext cx="4800600" cy="603504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2700" b="1" lang="fa-IR">
                <ns1:solidFill>
                  <ns1:srgbClr val="F1B73E"/>
                </ns1:solidFill>
                <ns1:latin typeface="Tahoma"/>
              </ns1:rPr>
              <ns1:t>چه اتفاقی می‌افتاد؟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804672" y="2194560"/>
            <ns1:ext cx="960120" cy="22860"/>
          </ns1:xfrm>
          <ns1:prstGeom prst="rect">
            <ns1:avLst/>
          </ns1:prstGeom>
          <ns1:solidFill>
            <ns1:srgbClr val="F1B73E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804672" y="2359152"/>
            <ns1:ext cx="4800600" cy="914400"/>
          </ns1:xfrm>
          <ns1:prstGeom prst="rect">
            <ns1:avLst/>
          </ns1:prstGeom>
          <ns1:noFill/>
        </ns0:spPr>
        <ns0:txBody>
          <ns1:bodyPr wrap="square" anchor="t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1650" b="0" lang="fa-IR">
                <ns1:solidFill>
                  <ns1:srgbClr val="C9E5F1"/>
                </ns1:solidFill>
                <ns1:latin typeface="Tahoma"/>
              </ns1:rPr>
              <ns1:t>ترافیک، مدرسه و شهر خیلی زود بی‌نظم می‌شدند؛ چون مرز حق افراد روشن نبود.</ns1:t>
            </ns1:r>
          </ns1:p>
        </ns0:txBody>
      </ns0:sp>
      <ns0:sp>
        <ns0:nvSpPr>
          <ns0:cNvPr id="20" name="Rounded Rectangle 19"/>
          <ns0:cNvSpPr/>
          <ns0:nvPr/>
        </ns0:nvSpPr>
        <ns0:spPr>
          <ns1:xfrm>
            <ns1:off x="822960" y="4251960"/>
            <ns1:ext cx="2651760" cy="585216"/>
          </ns1:xfrm>
          <ns1:prstGeom prst="roundRect">
            <ns1:avLst/>
          </ns1:prstGeom>
          <ns1:solidFill>
            <ns1:srgbClr val="061624"/>
          </ns1:solidFill>
          <ns1:ln w="15875">
            <ns1:solidFill>
              <ns1:srgbClr val="F1B73E"/>
            </ns1:solidFill>
          </ns1:ln>
          <ns1:effectLst>
            <ns1:outerShdw blurRad="65000" dist="25000" dir="2700000" algn="ctr" rotWithShape="0">
              <ns1:srgbClr val="000000">
                <ns1:alpha val="45000"/>
              </ns1:srgbClr>
            </ns1:outerShdw>
          </ns1:effectLst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914400" y="4306824"/>
            <ns1:ext cx="676656" cy="4389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2100" b="1" lang="fa-IR">
                <ns1:solidFill>
                  <ns1:srgbClr val="F1B73E"/>
                </ns1:solidFill>
                <ns1:latin typeface="Tahoma"/>
              </ns1:rPr>
              <ns1:t>؟</ns1:t>
            </ns1:r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1691640" y="4325112"/>
            <ns1:ext cx="1609344" cy="365760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1250" b="1" lang="fa-IR">
                <ns1:solidFill>
                  <ns1:srgbClr val="F7FAFC"/>
                </ns1:solidFill>
                <ns1:latin typeface="Tahoma"/>
              </ns1:rPr>
              <ns1:t>چه کسی از حق ما دفاع می‌کرد؟</ns1:t>
            </ns1:r>
          </ns1:p>
        </ns0:txBody>
      </ns0:sp>
    </ns0:spTree>
  </ns0:cSld>
  <ns0:clrMapOvr>
    <ns1:masterClrMapping/>
  </ns0:clrMapOvr>
  <ns0:transition spd="med" advClick="1">
    <ns0:push dir="l"/>
    <ns0:sndAc>
      <ns0:stSnd>
        <ns0:snd ns2:embed="rIdSfx1" name="whoosh"/>
      </ns0:stSnd>
    </ns0:sndAc>
  </ns0:transition>
</ns0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Shade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56032"/>
            <a:ext cx="1572768" cy="301752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45A2E0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704088" y="283464"/>
            <a:ext cx="1408176" cy="2103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5A2E0"/>
                </a:solidFill>
                <a:latin typeface="Tahoma"/>
              </a:rPr>
              <a:t>دلیل اول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40080"/>
            <a:ext cx="1069848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7FAFC"/>
                </a:solidFill>
                <a:latin typeface="Tahoma"/>
              </a:rPr>
              <a:t>قانون از حق افراد محافظت می‌کند</a:t>
            </a:r>
          </a:p>
        </p:txBody>
      </p:sp>
      <p:sp>
        <p:nvSpPr>
          <p:cNvPr id="7" name="!!Rule"/>
          <p:cNvSpPr/>
          <p:nvPr/>
        </p:nvSpPr>
        <p:spPr>
          <a:xfrm>
            <a:off x="621792" y="1161288"/>
            <a:ext cx="1325880" cy="23774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27432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0" lang="fa-IR">
                <a:solidFill>
                  <a:srgbClr val="7E99A9"/>
                </a:solidFill>
                <a:latin typeface="Tahoma"/>
              </a:rPr>
              <a:t>مطالعات اجتماعی هفتم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419088"/>
            <a:ext cx="23317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45A2E0"/>
                </a:solidFill>
                <a:latin typeface="Tahoma"/>
              </a:rPr>
              <a:t>ارائه: عزیزی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391656"/>
            <a:ext cx="74980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45A2E0"/>
                </a:solidFill>
                <a:latin typeface="Tahoma"/>
              </a:rPr>
              <a:t>۰۴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254496"/>
            <a:ext cx="10936224" cy="16459"/>
          </a:xfrm>
          <a:prstGeom prst="rect">
            <a:avLst/>
          </a:prstGeom>
          <a:solidFill>
            <a:srgbClr val="2D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21792" y="6236208"/>
            <a:ext cx="2430272" cy="41148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426464"/>
            <a:ext cx="5102352" cy="1993392"/>
          </a:xfrm>
          <a:prstGeom prst="roundRect">
            <a:avLst/>
          </a:prstGeom>
          <a:solidFill>
            <a:srgbClr val="061A2A"/>
          </a:solidFill>
          <a:ln w="15875">
            <a:solidFill>
              <a:srgbClr val="5B7A8B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" y="1453896"/>
            <a:ext cx="5047488" cy="457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92140" y="1609344"/>
            <a:ext cx="32004" cy="1627632"/>
          </a:xfrm>
          <a:prstGeom prst="round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1572768"/>
            <a:ext cx="4773168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45A2E0"/>
                </a:solidFill>
                <a:latin typeface="Tahoma"/>
              </a:rPr>
              <a:t>زور، جای حق را نمی‌گیرد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2231136"/>
            <a:ext cx="960120" cy="22860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395728"/>
            <a:ext cx="4773168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50" b="0" lang="fa-IR">
                <a:solidFill>
                  <a:srgbClr val="C9E5F1"/>
                </a:solidFill>
                <a:latin typeface="Tahoma"/>
              </a:rPr>
              <a:t>همه می‌توانند شکایت کنند و رسیدگی عادلانه بخواهند.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15968"/>
            <a:ext cx="2651760" cy="585216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45A2E0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1"/>
            <a:ext cx="67665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45A2E0"/>
                </a:solidFill>
                <a:latin typeface="Tahoma"/>
              </a:rPr>
              <a:t>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389120"/>
            <a:ext cx="1609344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F7FAFC"/>
                </a:solidFill>
                <a:latin typeface="Tahoma"/>
              </a:rPr>
              <a:t>حفظ حقوق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traffic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Shade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56032"/>
            <a:ext cx="1572768" cy="301752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45A2E0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704088" y="283464"/>
            <a:ext cx="1408176" cy="2103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5A2E0"/>
                </a:solidFill>
                <a:latin typeface="Tahoma"/>
              </a:rPr>
              <a:t>دلیل دوم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40080"/>
            <a:ext cx="1069848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7FAFC"/>
                </a:solidFill>
                <a:latin typeface="Tahoma"/>
              </a:rPr>
              <a:t>قانون نظم و امنیت می‌سازد</a:t>
            </a:r>
          </a:p>
        </p:txBody>
      </p:sp>
      <p:sp>
        <p:nvSpPr>
          <p:cNvPr id="7" name="!!Rule"/>
          <p:cNvSpPr/>
          <p:nvPr/>
        </p:nvSpPr>
        <p:spPr>
          <a:xfrm>
            <a:off x="621792" y="1161288"/>
            <a:ext cx="1325880" cy="23774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27432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0" lang="fa-IR">
                <a:solidFill>
                  <a:srgbClr val="7E99A9"/>
                </a:solidFill>
                <a:latin typeface="Tahoma"/>
              </a:rPr>
              <a:t>مطالعات اجتماعی هفتم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419088"/>
            <a:ext cx="23317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45A2E0"/>
                </a:solidFill>
                <a:latin typeface="Tahoma"/>
              </a:rPr>
              <a:t>ارائه: عزیزی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391656"/>
            <a:ext cx="74980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45A2E0"/>
                </a:solidFill>
                <a:latin typeface="Tahoma"/>
              </a:rPr>
              <a:t>۰۵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254496"/>
            <a:ext cx="10936224" cy="16459"/>
          </a:xfrm>
          <a:prstGeom prst="rect">
            <a:avLst/>
          </a:prstGeom>
          <a:solidFill>
            <a:srgbClr val="2D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21792" y="6236208"/>
            <a:ext cx="3037840" cy="41148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45936" y="1408176"/>
            <a:ext cx="5065776" cy="1993392"/>
          </a:xfrm>
          <a:prstGeom prst="roundRect">
            <a:avLst/>
          </a:prstGeom>
          <a:solidFill>
            <a:srgbClr val="061A2A"/>
          </a:solidFill>
          <a:ln w="15875">
            <a:solidFill>
              <a:srgbClr val="5B7A8B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3368" y="1435608"/>
            <a:ext cx="5010912" cy="457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361420" y="1591056"/>
            <a:ext cx="32004" cy="1627632"/>
          </a:xfrm>
          <a:prstGeom prst="round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554480"/>
            <a:ext cx="4736592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45A2E0"/>
                </a:solidFill>
                <a:latin typeface="Tahoma"/>
              </a:rPr>
              <a:t>قاعدهٔ مشترک = پیش‌بینی‌پذیری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528" y="2212848"/>
            <a:ext cx="960120" cy="22860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377440"/>
            <a:ext cx="473659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50" b="0" lang="fa-IR">
                <a:solidFill>
                  <a:srgbClr val="C9E5F1"/>
                </a:solidFill>
                <a:latin typeface="Tahoma"/>
              </a:rPr>
              <a:t>وقتی همه یک قانون را رعایت کنند، خطر و آشفتگی کمتر می‌شود.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13648" y="4297680"/>
            <a:ext cx="2651760" cy="585216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45A2E0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4352544"/>
            <a:ext cx="67665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45A2E0"/>
                </a:solidFill>
                <a:latin typeface="Tahoma"/>
              </a:rPr>
              <a:t>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4370832"/>
            <a:ext cx="1609344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F7FAFC"/>
                </a:solidFill>
                <a:latin typeface="Tahoma"/>
              </a:rPr>
              <a:t>نظم و امنیت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opShade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56032"/>
            <a:ext cx="1572768" cy="301752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45A2E0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704088" y="283464"/>
            <a:ext cx="1408176" cy="2103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5A2E0"/>
                </a:solidFill>
                <a:latin typeface="Tahoma"/>
              </a:rPr>
              <a:t>دلیل سوم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40080"/>
            <a:ext cx="1069848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7FAFC"/>
                </a:solidFill>
                <a:latin typeface="Tahoma"/>
              </a:rPr>
              <a:t>قانون مسئولیت‌پذیری را تمرین می‌دهد</a:t>
            </a:r>
          </a:p>
        </p:txBody>
      </p:sp>
      <p:sp>
        <p:nvSpPr>
          <p:cNvPr id="7" name="!!Rule"/>
          <p:cNvSpPr/>
          <p:nvPr/>
        </p:nvSpPr>
        <p:spPr>
          <a:xfrm>
            <a:off x="621792" y="1161288"/>
            <a:ext cx="1325880" cy="23774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27432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0" lang="fa-IR">
                <a:solidFill>
                  <a:srgbClr val="7E99A9"/>
                </a:solidFill>
                <a:latin typeface="Tahoma"/>
              </a:rPr>
              <a:t>مطالعات اجتماعی هفتم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419088"/>
            <a:ext cx="23317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45A2E0"/>
                </a:solidFill>
                <a:latin typeface="Tahoma"/>
              </a:rPr>
              <a:t>ارائه: عزیزی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391656"/>
            <a:ext cx="74980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45A2E0"/>
                </a:solidFill>
                <a:latin typeface="Tahoma"/>
              </a:rPr>
              <a:t>۰۶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254496"/>
            <a:ext cx="10936224" cy="16459"/>
          </a:xfrm>
          <a:prstGeom prst="rect">
            <a:avLst/>
          </a:prstGeom>
          <a:solidFill>
            <a:srgbClr val="2D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21792" y="6236208"/>
            <a:ext cx="3645408" cy="41148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508760"/>
            <a:ext cx="105156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800" b="1" lang="fa-IR">
                <a:solidFill>
                  <a:srgbClr val="45A2E0"/>
                </a:solidFill>
                <a:latin typeface="Tahoma"/>
              </a:rPr>
              <a:t>«قبل از عمل، پیامد آن را ببین.»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743200"/>
            <a:ext cx="3246120" cy="1874519"/>
          </a:xfrm>
          <a:prstGeom prst="roundRect">
            <a:avLst/>
          </a:prstGeom>
          <a:solidFill>
            <a:srgbClr val="061A2A"/>
          </a:solidFill>
          <a:ln w="15875">
            <a:solidFill>
              <a:srgbClr val="5B7A8B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" y="2770632"/>
            <a:ext cx="3191256" cy="457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91939" y="2926080"/>
            <a:ext cx="32004" cy="1508760"/>
          </a:xfrm>
          <a:prstGeom prst="round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035808"/>
            <a:ext cx="285292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45A2E0"/>
                </a:solidFill>
                <a:latin typeface="Tahoma"/>
              </a:rPr>
              <a:t>انتخاب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675887"/>
            <a:ext cx="2761488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9E5F1"/>
                </a:solidFill>
                <a:latin typeface="Tahoma"/>
              </a:rPr>
              <a:t>رفتار را آگاهانه انتخاب می‌کنیم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5152" y="2743200"/>
            <a:ext cx="3246120" cy="1874519"/>
          </a:xfrm>
          <a:prstGeom prst="roundRect">
            <a:avLst/>
          </a:prstGeom>
          <a:solidFill>
            <a:srgbClr val="061A2A"/>
          </a:solidFill>
          <a:ln w="15875">
            <a:solidFill>
              <a:srgbClr val="5B7A8B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72584" y="2770632"/>
            <a:ext cx="3191256" cy="457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40979" y="2926080"/>
            <a:ext cx="32004" cy="1508760"/>
          </a:xfrm>
          <a:prstGeom prst="round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3035808"/>
            <a:ext cx="285292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45A2E0"/>
                </a:solidFill>
                <a:latin typeface="Tahoma"/>
              </a:rPr>
              <a:t>پیامد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3675887"/>
            <a:ext cx="2761488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9E5F1"/>
                </a:solidFill>
                <a:latin typeface="Tahoma"/>
              </a:rPr>
              <a:t>نتیجهٔ تصمیم را می‌سنجیم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94192" y="2743200"/>
            <a:ext cx="3246120" cy="1874519"/>
          </a:xfrm>
          <a:prstGeom prst="roundRect">
            <a:avLst/>
          </a:prstGeom>
          <a:solidFill>
            <a:srgbClr val="061A2A"/>
          </a:solidFill>
          <a:ln w="15875">
            <a:solidFill>
              <a:srgbClr val="5B7A8B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21624" y="2770632"/>
            <a:ext cx="3191256" cy="457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590020" y="2926080"/>
            <a:ext cx="32004" cy="1508760"/>
          </a:xfrm>
          <a:prstGeom prst="round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7072" y="3035808"/>
            <a:ext cx="285292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45A2E0"/>
                </a:solidFill>
                <a:latin typeface="Tahoma"/>
              </a:rPr>
              <a:t>پذیرش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8" y="3675887"/>
            <a:ext cx="2761488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9E5F1"/>
                </a:solidFill>
                <a:latin typeface="Tahoma"/>
              </a:rPr>
              <a:t>مسئولیت کار خود را می‌پذیریم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Shade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56032"/>
            <a:ext cx="1572768" cy="301752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45A2E0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704088" y="283464"/>
            <a:ext cx="1408176" cy="2103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5A2E0"/>
                </a:solidFill>
                <a:latin typeface="Tahoma"/>
              </a:rPr>
              <a:t>دلیل چهارم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40080"/>
            <a:ext cx="1069848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7FAFC"/>
                </a:solidFill>
                <a:latin typeface="Tahoma"/>
              </a:rPr>
              <a:t>قانون اختلاف را عادلانه حل می‌کند</a:t>
            </a:r>
          </a:p>
        </p:txBody>
      </p:sp>
      <p:sp>
        <p:nvSpPr>
          <p:cNvPr id="7" name="!!Rule"/>
          <p:cNvSpPr/>
          <p:nvPr/>
        </p:nvSpPr>
        <p:spPr>
          <a:xfrm>
            <a:off x="621792" y="1161288"/>
            <a:ext cx="1325880" cy="23774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27432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0" lang="fa-IR">
                <a:solidFill>
                  <a:srgbClr val="7E99A9"/>
                </a:solidFill>
                <a:latin typeface="Tahoma"/>
              </a:rPr>
              <a:t>مطالعات اجتماعی هفتم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419088"/>
            <a:ext cx="23317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45A2E0"/>
                </a:solidFill>
                <a:latin typeface="Tahoma"/>
              </a:rPr>
              <a:t>ارائه: عزیزی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391656"/>
            <a:ext cx="74980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45A2E0"/>
                </a:solidFill>
                <a:latin typeface="Tahoma"/>
              </a:rPr>
              <a:t>۰۷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254496"/>
            <a:ext cx="10936224" cy="16459"/>
          </a:xfrm>
          <a:prstGeom prst="rect">
            <a:avLst/>
          </a:prstGeom>
          <a:solidFill>
            <a:srgbClr val="2D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21792" y="6236208"/>
            <a:ext cx="4252976" cy="41148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27648" y="1408176"/>
            <a:ext cx="5084064" cy="1993392"/>
          </a:xfrm>
          <a:prstGeom prst="roundRect">
            <a:avLst/>
          </a:prstGeom>
          <a:solidFill>
            <a:srgbClr val="061A2A"/>
          </a:solidFill>
          <a:ln w="15875">
            <a:solidFill>
              <a:srgbClr val="5B7A8B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435608"/>
            <a:ext cx="5029200" cy="457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361420" y="1591056"/>
            <a:ext cx="32004" cy="1627632"/>
          </a:xfrm>
          <a:prstGeom prst="round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475488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45A2E0"/>
                </a:solidFill>
                <a:latin typeface="Tahoma"/>
              </a:rPr>
              <a:t>دلیل و دادگاه، نه دعوا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212848"/>
            <a:ext cx="960120" cy="22860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77440"/>
            <a:ext cx="47548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50" b="0" lang="fa-IR">
                <a:solidFill>
                  <a:srgbClr val="C9E5F1"/>
                </a:solidFill>
                <a:latin typeface="Tahoma"/>
              </a:rPr>
              <a:t>قانون به جای زور و انتقام، راه گفت‌وگو و داوری عادلانه را می‌گذارد.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13648" y="4297680"/>
            <a:ext cx="2651760" cy="585216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45A2E0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4352544"/>
            <a:ext cx="67665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45A2E0"/>
                </a:solidFill>
                <a:latin typeface="Tahoma"/>
              </a:rPr>
              <a:t>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4370832"/>
            <a:ext cx="1609344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F7FAFC"/>
                </a:solidFill>
                <a:latin typeface="Tahoma"/>
              </a:rPr>
              <a:t>حل اختلاف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2" name="!!Scene" descr="traffic_right.jp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sp>
        <ns0:nvSpPr>
          <ns0:cNvPr id="3" name="!!TopShade"/>
          <ns0:cNvSpPr/>
          <ns0:nvPr/>
        </ns0:nvSpPr>
        <ns0:spPr>
          <ns1:xfrm>
            <ns1:off x="0" y="0"/>
            <ns1:ext cx="12191695" cy="1243584"/>
          </ns1:xfrm>
          <ns1:prstGeom prst="rect">
            <ns1:avLst/>
          </ns1:prstGeom>
          <ns1:solidFill>
            <ns1:srgbClr val="030A11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621792" y="256032"/>
            <ns1:ext cx="1572768" cy="301752"/>
          </ns1:xfrm>
          <ns1:prstGeom prst="roundRect">
            <ns1:avLst/>
          </ns1:prstGeom>
          <ns1:solidFill>
            <ns1:srgbClr val="061624"/>
          </ns1:solidFill>
          <ns1:ln w="15875">
            <ns1:solidFill>
              <ns1:srgbClr val="50CDD7"/>
            </ns1:solidFill>
          </ns1:ln>
          <ns1:effectLst>
            <ns1:outerShdw blurRad="65000" dist="25000" dir="2700000" algn="ctr" rotWithShape="0">
              <ns1:srgbClr val="000000">
                <ns1:alpha val="45000"/>
              </ns1:srgbClr>
            </ns1:outerShdw>
          </ns1:effectLst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!!Kicker"/>
          <ns0:cNvSpPr txBox="1"/>
          <ns0:nvPr/>
        </ns0:nvSpPr>
        <ns0:spPr>
          <ns1:xfrm>
            <ns1:off x="704088" y="283464"/>
            <ns1:ext cx="1408176" cy="2103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950" b="1" lang="fa-IR">
                <ns1:solidFill>
                  <ns1:srgbClr val="50CDD7"/>
                </ns1:solidFill>
                <ns1:latin typeface="Tahoma"/>
              </ns1:rPr>
              <ns1:t>زندگی روزمره</ns1:t>
            </ns1:r>
          </ns1:p>
        </ns0:txBody>
      </ns0:sp>
      <ns0:sp>
        <ns0:nvSpPr>
          <ns0:cNvPr id="6" name="!!Title"/>
          <ns0:cNvSpPr txBox="1"/>
          <ns0:nvPr/>
        </ns0:nvSpPr>
        <ns0:spPr>
          <ns1:xfrm>
            <ns1:off x="621792" y="640080"/>
            <ns1:ext cx="10698480" cy="4389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2900" b="1" lang="fa-IR">
                <ns1:solidFill>
                  <ns1:srgbClr val="F7FAFC"/>
                </ns1:solidFill>
                <ns1:latin typeface="Tahoma"/>
              </ns1:rPr>
              <ns1:t>خیابان؛ چند ثانیه عجله، چند حق از دست‌رفته</ns1:t>
            </ns1:r>
          </ns1:p>
        </ns0:txBody>
      </ns0:sp>
      <ns0:sp>
        <ns0:nvSpPr>
          <ns0:cNvPr id="7" name="!!Rule"/>
          <ns0:cNvSpPr/>
          <ns0:nvPr/>
        </ns0:nvSpPr>
        <ns0:spPr>
          <ns1:xfrm>
            <ns1:off x="621792" y="1161288"/>
            <ns1:ext cx="1325880" cy="23774"/>
          </ns1:xfrm>
          <ns1:prstGeom prst="rect">
            <ns1:avLst/>
          </ns1:prstGeom>
          <ns1:solidFill>
            <ns1:srgbClr val="50CDD7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621792" y="6446520"/>
            <ns1:ext cx="2743200" cy="201168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850" b="0" lang="fa-IR">
                <ns1:solidFill>
                  <ns1:srgbClr val="7E99A9"/>
                </ns1:solidFill>
                <ns1:latin typeface="Tahoma"/>
              </ns1:rPr>
              <ns1:t>مطالعات اجتماعی هفتم • درس ۳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7909560" y="6419088"/>
            <ns1:ext cx="2331720" cy="201168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850" b="1" lang="fa-IR">
                <ns1:solidFill>
                  <ns1:srgbClr val="50CDD7"/>
                </ns1:solidFill>
                <ns1:latin typeface="Tahoma"/>
              </ns1:rPr>
              <ns1:t>ارائه: طاها عابدی‌فر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10808208" y="6391656"/>
            <ns1:ext cx="749808" cy="25603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1000" b="1" lang="fa-IR">
                <ns1:solidFill>
                  <ns1:srgbClr val="50CDD7"/>
                </ns1:solidFill>
                <ns1:latin typeface="Tahoma"/>
              </ns1:rPr>
              <ns1:t>۰۸ / ۱۸</ns1:t>
            </ns1:r>
          </ns1:p>
        </ns0:txBody>
      </ns0:sp>
      <ns0:sp>
        <ns0:nvSpPr>
          <ns0:cNvPr id="11" name="Rectangle 10"/>
          <ns0:cNvSpPr/>
          <ns0:nvPr/>
        </ns0:nvSpPr>
        <ns0:spPr>
          <ns1:xfrm>
            <ns1:off x="621792" y="6254496"/>
            <ns1:ext cx="10936224" cy="16459"/>
          </ns1:xfrm>
          <ns1:prstGeom prst="rect">
            <ns1:avLst/>
          </ns1:prstGeom>
          <ns1:solidFill>
            <ns1:srgbClr val="2D435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!!Progress"/>
          <ns0:cNvSpPr/>
          <ns0:nvPr/>
        </ns0:nvSpPr>
        <ns0:spPr>
          <ns1:xfrm>
            <ns1:off x="621792" y="6236208"/>
            <ns1:ext cx="4860544" cy="41148"/>
          </ns1:xfrm>
          <ns1:prstGeom prst="rect">
            <ns1:avLst/>
          </ns1:prstGeom>
          <ns1:solidFill>
            <ns1:srgbClr val="50CDD7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13" name="Picture 12" descr="pulse.gif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502920" y="5010912"/>
            <ns1:ext cx="658368" cy="658368"/>
          </ns1:xfrm>
          <ns1:prstGeom prst="rect">
            <ns1:avLst/>
          </ns1:prstGeom>
        </ns0:spPr>
      </ns0:pic>
      <ns0:sp>
        <ns0:nvSpPr>
          <ns0:cNvPr id="14" name="Rounded Rectangle 13"/>
          <ns0:cNvSpPr/>
          <ns0:nvPr/>
        </ns0:nvSpPr>
        <ns0:spPr>
          <ns1:xfrm>
            <ns1:off x="6309360" y="1408176"/>
            <ns1:ext cx="5084064" cy="1993392"/>
          </ns1:xfrm>
          <ns1:prstGeom prst="roundRect">
            <ns1:avLst/>
          </ns1:prstGeom>
          <ns1:solidFill>
            <ns1:srgbClr val="061A2A"/>
          </ns1:solidFill>
          <ns1:ln w="15875">
            <ns1:solidFill>
              <ns1:srgbClr val="5B7A8B"/>
            </ns1:solidFill>
          </ns1:ln>
          <ns1:effectLst>
            <ns1:outerShdw blurRad="65000" dist="25000" dir="2700000" algn="ctr" rotWithShape="0">
              <ns1:srgbClr val="000000">
                <ns1:alpha val="45000"/>
              </ns1:srgbClr>
            </ns1:outerShdw>
          </ns1:effectLst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336792" y="1435608"/>
            <ns1:ext cx="5029200" cy="45720"/>
          </ns1:xfrm>
          <ns1:prstGeom prst="roundRect">
            <ns1:avLst/>
          </ns1:prstGeom>
          <ns1:solidFill>
            <ns1:srgbClr val="F7FAFC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11343132" y="1591056"/>
            <ns1:ext cx="32004" cy="1627632"/>
          </ns1:xfrm>
          <ns1:prstGeom prst="roundRect">
            <ns1:avLst/>
          </ns1:prstGeom>
          <ns1:solidFill>
            <ns1:srgbClr val="50CDD7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6473952" y="1554480"/>
            <ns1:ext cx="4754880" cy="603504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2700" b="1" lang="fa-IR">
                <ns1:solidFill>
                  <ns1:srgbClr val="50CDD7"/>
                </ns1:solidFill>
                <ns1:latin typeface="Tahoma"/>
              </ns1:rPr>
              <ns1:t>چراغ قرمز قرارداد حفظ جان است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6473952" y="2212848"/>
            <ns1:ext cx="960120" cy="22860"/>
          </ns1:xfrm>
          <ns1:prstGeom prst="rect">
            <ns1:avLst/>
          </ns1:prstGeom>
          <ns1:solidFill>
            <ns1:srgbClr val="50CDD7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6473952" y="2377440"/>
            <ns1:ext cx="4754880" cy="914400"/>
          </ns1:xfrm>
          <ns1:prstGeom prst="rect">
            <ns1:avLst/>
          </ns1:prstGeom>
          <ns1:noFill/>
        </ns0:spPr>
        <ns0:txBody>
          <ns1:bodyPr wrap="square" anchor="t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1650" b="0" lang="fa-IR">
                <ns1:solidFill>
                  <ns1:srgbClr val="C9E5F1"/>
                </ns1:solidFill>
                <ns1:latin typeface="Tahoma"/>
              </ns1:rPr>
              <ns1:t>عبور غیرمجاز، جان و زمان دیگران را هم تهدید می‌کند.</ns1:t>
            </ns1:r>
          </ns1:p>
        </ns0:txBody>
      </ns0:sp>
      <ns0:sp>
        <ns0:nvSpPr>
          <ns0:cNvPr id="20" name="Rounded Rectangle 19"/>
          <ns0:cNvSpPr/>
          <ns0:nvPr/>
        </ns0:nvSpPr>
        <ns0:spPr>
          <ns1:xfrm>
            <ns1:off x="6510528" y="4261104"/>
            <ns1:ext cx="2651760" cy="585216"/>
          </ns1:xfrm>
          <ns1:prstGeom prst="roundRect">
            <ns1:avLst/>
          </ns1:prstGeom>
          <ns1:solidFill>
            <ns1:srgbClr val="061624"/>
          </ns1:solidFill>
          <ns1:ln w="15875">
            <ns1:solidFill>
              <ns1:srgbClr val="50CDD7"/>
            </ns1:solidFill>
          </ns1:ln>
          <ns1:effectLst>
            <ns1:outerShdw blurRad="65000" dist="25000" dir="2700000" algn="ctr" rotWithShape="0">
              <ns1:srgbClr val="000000">
                <ns1:alpha val="45000"/>
              </ns1:srgbClr>
            </ns1:outerShdw>
          </ns1:effectLst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6601968" y="4315968"/>
            <ns1:ext cx="676656" cy="4389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2100" b="1" lang="fa-IR">
                <ns1:solidFill>
                  <ns1:srgbClr val="50CDD7"/>
                </ns1:solidFill>
                <ns1:latin typeface="Tahoma"/>
              </ns1:rPr>
              <ns1:t>جان</ns1:t>
            </ns1:r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7379208" y="4334256"/>
            <ns1:ext cx="1609344" cy="365760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1250" b="1" lang="fa-IR">
                <ns1:solidFill>
                  <ns1:srgbClr val="F7FAFC"/>
                </ns1:solidFill>
                <ns1:latin typeface="Tahoma"/>
              </ns1:rPr>
              <ns1:t>امنیت</ns1:t>
            </ns1:r>
          </ns1:p>
        </ns0:txBody>
      </ns0:sp>
    </ns0:spTree>
  </ns0:cSld>
  <ns0:clrMapOvr>
    <ns1:masterClrMapping/>
  </ns0:clrMapOvr>
  <ns0:transition spd="med" advClick="1">
    <ns0:push dir="l"/>
    <ns0:sndAc>
      <ns0:stSnd>
        <ns0:snd ns2:embed="rIdSfx1" name="whoosh"/>
      </ns0:stSnd>
    </ns0:sndAc>
  </ns0:transition>
</ns0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school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Shade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56032"/>
            <a:ext cx="1572768" cy="301752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50CDD7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704088" y="283464"/>
            <a:ext cx="1408176" cy="2103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50CDD7"/>
                </a:solidFill>
                <a:latin typeface="Tahoma"/>
              </a:rPr>
              <a:t>زندگی روزمره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40080"/>
            <a:ext cx="1069848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7FAFC"/>
                </a:solidFill>
                <a:latin typeface="Tahoma"/>
              </a:rPr>
              <a:t>مدرسه؛ نظم برای یادگیری است</a:t>
            </a:r>
          </a:p>
        </p:txBody>
      </p:sp>
      <p:sp>
        <p:nvSpPr>
          <p:cNvPr id="7" name="!!Rule"/>
          <p:cNvSpPr/>
          <p:nvPr/>
        </p:nvSpPr>
        <p:spPr>
          <a:xfrm>
            <a:off x="621792" y="1161288"/>
            <a:ext cx="1325880" cy="23774"/>
          </a:xfrm>
          <a:prstGeom prst="rect">
            <a:avLst/>
          </a:prstGeom>
          <a:solidFill>
            <a:srgbClr val="50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27432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0" lang="fa-IR">
                <a:solidFill>
                  <a:srgbClr val="7E99A9"/>
                </a:solidFill>
                <a:latin typeface="Tahoma"/>
              </a:rPr>
              <a:t>مطالعات اجتماعی هفتم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419088"/>
            <a:ext cx="23317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50CDD7"/>
                </a:solidFill>
                <a:latin typeface="Tahoma"/>
              </a:rPr>
              <a:t>ارائه: طاها عابدی‌فر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391656"/>
            <a:ext cx="74980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50CDD7"/>
                </a:solidFill>
                <a:latin typeface="Tahoma"/>
              </a:rPr>
              <a:t>۰۹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254496"/>
            <a:ext cx="10936224" cy="16459"/>
          </a:xfrm>
          <a:prstGeom prst="rect">
            <a:avLst/>
          </a:prstGeom>
          <a:solidFill>
            <a:srgbClr val="2D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21792" y="6236208"/>
            <a:ext cx="5468112" cy="41148"/>
          </a:xfrm>
          <a:prstGeom prst="rect">
            <a:avLst/>
          </a:prstGeom>
          <a:solidFill>
            <a:srgbClr val="50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408176"/>
            <a:ext cx="5084064" cy="1993392"/>
          </a:xfrm>
          <a:prstGeom prst="roundRect">
            <a:avLst/>
          </a:prstGeom>
          <a:solidFill>
            <a:srgbClr val="061A2A"/>
          </a:solidFill>
          <a:ln w="15875">
            <a:solidFill>
              <a:srgbClr val="5B7A8B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36792" y="1435608"/>
            <a:ext cx="5029200" cy="457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343132" y="1591056"/>
            <a:ext cx="32004" cy="1627632"/>
          </a:xfrm>
          <a:prstGeom prst="roundRect">
            <a:avLst/>
          </a:prstGeom>
          <a:solidFill>
            <a:srgbClr val="50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554480"/>
            <a:ext cx="475488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50CDD7"/>
                </a:solidFill>
                <a:latin typeface="Tahoma"/>
              </a:rPr>
              <a:t>قانون، کلاس را آرام می‌کند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2212848"/>
            <a:ext cx="960120" cy="22860"/>
          </a:xfrm>
          <a:prstGeom prst="rect">
            <a:avLst/>
          </a:prstGeom>
          <a:solidFill>
            <a:srgbClr val="50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377440"/>
            <a:ext cx="47548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50" b="0" lang="fa-IR">
                <a:solidFill>
                  <a:srgbClr val="C9E5F1"/>
                </a:solidFill>
                <a:latin typeface="Tahoma"/>
              </a:rPr>
              <a:t>نوبت صحبت، حضور به‌موقع و احترام؛ فرصت یادگیری را برای همه حفظ می‌کند.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13648" y="4297680"/>
            <a:ext cx="2651760" cy="585216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50CDD7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4352544"/>
            <a:ext cx="67665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50CDD7"/>
                </a:solidFill>
                <a:latin typeface="Tahoma"/>
              </a:rPr>
              <a:t>همه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4370832"/>
            <a:ext cx="1609344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F7FAFC"/>
                </a:solidFill>
                <a:latin typeface="Tahoma"/>
              </a:rPr>
              <a:t>فرصت برابر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ity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Shade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56032"/>
            <a:ext cx="1572768" cy="301752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50CDD7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704088" y="283464"/>
            <a:ext cx="1408176" cy="2103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50CDD7"/>
                </a:solidFill>
                <a:latin typeface="Tahoma"/>
              </a:rPr>
              <a:t>زندگی روزمره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40080"/>
            <a:ext cx="1069848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7FAFC"/>
                </a:solidFill>
                <a:latin typeface="Tahoma"/>
              </a:rPr>
              <a:t>شهر؛ مال عمومی، مال همه است</a:t>
            </a:r>
          </a:p>
        </p:txBody>
      </p:sp>
      <p:sp>
        <p:nvSpPr>
          <p:cNvPr id="7" name="!!Rule"/>
          <p:cNvSpPr/>
          <p:nvPr/>
        </p:nvSpPr>
        <p:spPr>
          <a:xfrm>
            <a:off x="621792" y="1161288"/>
            <a:ext cx="1325880" cy="23774"/>
          </a:xfrm>
          <a:prstGeom prst="rect">
            <a:avLst/>
          </a:prstGeom>
          <a:solidFill>
            <a:srgbClr val="50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27432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0" lang="fa-IR">
                <a:solidFill>
                  <a:srgbClr val="7E99A9"/>
                </a:solidFill>
                <a:latin typeface="Tahoma"/>
              </a:rPr>
              <a:t>مطالعات اجتماعی هفتم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419088"/>
            <a:ext cx="23317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50CDD7"/>
                </a:solidFill>
                <a:latin typeface="Tahoma"/>
              </a:rPr>
              <a:t>ارائه: طاها عابدی‌فر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391656"/>
            <a:ext cx="74980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50CDD7"/>
                </a:solidFill>
                <a:latin typeface="Tahoma"/>
              </a:rPr>
              <a:t>۱۰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254496"/>
            <a:ext cx="10936224" cy="16459"/>
          </a:xfrm>
          <a:prstGeom prst="rect">
            <a:avLst/>
          </a:prstGeom>
          <a:solidFill>
            <a:srgbClr val="2D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21792" y="6236208"/>
            <a:ext cx="6075680" cy="41148"/>
          </a:xfrm>
          <a:prstGeom prst="rect">
            <a:avLst/>
          </a:prstGeom>
          <a:solidFill>
            <a:srgbClr val="50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408176"/>
            <a:ext cx="5102352" cy="1993392"/>
          </a:xfrm>
          <a:prstGeom prst="roundRect">
            <a:avLst/>
          </a:prstGeom>
          <a:solidFill>
            <a:srgbClr val="061A2A"/>
          </a:solidFill>
          <a:ln w="15875">
            <a:solidFill>
              <a:srgbClr val="5B7A8B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" y="1435608"/>
            <a:ext cx="5047488" cy="457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92140" y="1591056"/>
            <a:ext cx="32004" cy="1627632"/>
          </a:xfrm>
          <a:prstGeom prst="roundRect">
            <a:avLst/>
          </a:prstGeom>
          <a:solidFill>
            <a:srgbClr val="50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1554480"/>
            <a:ext cx="4773168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50CDD7"/>
                </a:solidFill>
                <a:latin typeface="Tahoma"/>
              </a:rPr>
              <a:t>پارک • اتوبوس • کتابخانه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2212848"/>
            <a:ext cx="960120" cy="22860"/>
          </a:xfrm>
          <a:prstGeom prst="rect">
            <a:avLst/>
          </a:prstGeom>
          <a:solidFill>
            <a:srgbClr val="50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377440"/>
            <a:ext cx="4773168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50" b="0" lang="fa-IR">
                <a:solidFill>
                  <a:srgbClr val="C9E5F1"/>
                </a:solidFill>
                <a:latin typeface="Tahoma"/>
              </a:rPr>
              <a:t>مراقبت از امکانات عمومی یعنی احترام به حق امروز و فردای همه.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97680"/>
            <a:ext cx="2651760" cy="585216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50CDD7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52544"/>
            <a:ext cx="67665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50CDD7"/>
                </a:solidFill>
                <a:latin typeface="Tahoma"/>
              </a:rPr>
              <a:t>ما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370832"/>
            <a:ext cx="1609344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F7FAFC"/>
                </a:solidFill>
                <a:latin typeface="Tahoma"/>
              </a:rPr>
              <a:t>امانت‌داری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amp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Shade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56032"/>
            <a:ext cx="1572768" cy="301752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50CDD7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704088" y="283464"/>
            <a:ext cx="1408176" cy="2103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50CDD7"/>
                </a:solidFill>
                <a:latin typeface="Tahoma"/>
              </a:rPr>
              <a:t>زندگی روزمره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40080"/>
            <a:ext cx="1069848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7FAFC"/>
                </a:solidFill>
                <a:latin typeface="Tahoma"/>
              </a:rPr>
              <a:t>اردو؛ قانون خوب باید قابل اجرا باشد</a:t>
            </a:r>
          </a:p>
        </p:txBody>
      </p:sp>
      <p:sp>
        <p:nvSpPr>
          <p:cNvPr id="7" name="!!Rule"/>
          <p:cNvSpPr/>
          <p:nvPr/>
        </p:nvSpPr>
        <p:spPr>
          <a:xfrm>
            <a:off x="621792" y="1161288"/>
            <a:ext cx="1325880" cy="23774"/>
          </a:xfrm>
          <a:prstGeom prst="rect">
            <a:avLst/>
          </a:prstGeom>
          <a:solidFill>
            <a:srgbClr val="50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27432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0" lang="fa-IR">
                <a:solidFill>
                  <a:srgbClr val="7E99A9"/>
                </a:solidFill>
                <a:latin typeface="Tahoma"/>
              </a:rPr>
              <a:t>مطالعات اجتماعی هفتم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419088"/>
            <a:ext cx="23317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50CDD7"/>
                </a:solidFill>
                <a:latin typeface="Tahoma"/>
              </a:rPr>
              <a:t>ارائه: طاها عابدی‌فر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391656"/>
            <a:ext cx="74980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50CDD7"/>
                </a:solidFill>
                <a:latin typeface="Tahoma"/>
              </a:rPr>
              <a:t>۱۱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254496"/>
            <a:ext cx="10936224" cy="16459"/>
          </a:xfrm>
          <a:prstGeom prst="rect">
            <a:avLst/>
          </a:prstGeom>
          <a:solidFill>
            <a:srgbClr val="2D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21792" y="6236208"/>
            <a:ext cx="6683248" cy="41148"/>
          </a:xfrm>
          <a:prstGeom prst="rect">
            <a:avLst/>
          </a:prstGeom>
          <a:solidFill>
            <a:srgbClr val="50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408176"/>
            <a:ext cx="5084064" cy="1993392"/>
          </a:xfrm>
          <a:prstGeom prst="roundRect">
            <a:avLst/>
          </a:prstGeom>
          <a:solidFill>
            <a:srgbClr val="061A2A"/>
          </a:solidFill>
          <a:ln w="15875">
            <a:solidFill>
              <a:srgbClr val="5B7A8B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36792" y="1435608"/>
            <a:ext cx="5029200" cy="457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343132" y="1591056"/>
            <a:ext cx="32004" cy="1627632"/>
          </a:xfrm>
          <a:prstGeom prst="roundRect">
            <a:avLst/>
          </a:prstGeom>
          <a:solidFill>
            <a:srgbClr val="50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554480"/>
            <a:ext cx="475488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50CDD7"/>
                </a:solidFill>
                <a:latin typeface="Tahoma"/>
              </a:rPr>
              <a:t>روشن، عادلانه، شدنی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2212848"/>
            <a:ext cx="960120" cy="22860"/>
          </a:xfrm>
          <a:prstGeom prst="rect">
            <a:avLst/>
          </a:prstGeom>
          <a:solidFill>
            <a:srgbClr val="50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377440"/>
            <a:ext cx="47548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50" b="0" lang="fa-IR">
                <a:solidFill>
                  <a:srgbClr val="C9E5F1"/>
                </a:solidFill>
                <a:latin typeface="Tahoma"/>
              </a:rPr>
              <a:t>محل وسایل، ساعت استراحت، ایمنی آتش، صف غذا و تقسیم کار باید مشخص باشد.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13648" y="4315968"/>
            <a:ext cx="2651760" cy="585216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50CDD7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4370831"/>
            <a:ext cx="67665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50CDD7"/>
                </a:solidFill>
                <a:latin typeface="Tahoma"/>
              </a:rPr>
              <a:t>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4389120"/>
            <a:ext cx="1609344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F7FAFC"/>
                </a:solidFill>
                <a:latin typeface="Tahoma"/>
              </a:rPr>
              <a:t>قاعدهٔ روشن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2" name="!!Scene" descr="school_left.jp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sp>
        <ns0:nvSpPr>
          <ns0:cNvPr id="3" name="!!TopShade"/>
          <ns0:cNvSpPr/>
          <ns0:nvPr/>
        </ns0:nvSpPr>
        <ns0:spPr>
          <ns1:xfrm>
            <ns1:off x="0" y="0"/>
            <ns1:ext cx="12191695" cy="1243584"/>
          </ns1:xfrm>
          <ns1:prstGeom prst="rect">
            <ns1:avLst/>
          </ns1:prstGeom>
          <ns1:solidFill>
            <ns1:srgbClr val="030A11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621792" y="256032"/>
            <ns1:ext cx="1572768" cy="301752"/>
          </ns1:xfrm>
          <ns1:prstGeom prst="roundRect">
            <ns1:avLst/>
          </ns1:prstGeom>
          <ns1:solidFill>
            <ns1:srgbClr val="061624"/>
          </ns1:solidFill>
          <ns1:ln w="15875">
            <ns1:solidFill>
              <ns1:srgbClr val="F1B73E"/>
            </ns1:solidFill>
          </ns1:ln>
          <ns1:effectLst>
            <ns1:outerShdw blurRad="65000" dist="25000" dir="2700000" algn="ctr" rotWithShape="0">
              <ns1:srgbClr val="000000">
                <ns1:alpha val="45000"/>
              </ns1:srgbClr>
            </ns1:outerShdw>
          </ns1:effectLst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!!Kicker"/>
          <ns0:cNvSpPr txBox="1"/>
          <ns0:nvPr/>
        </ns0:nvSpPr>
        <ns0:spPr>
          <ns1:xfrm>
            <ns1:off x="704088" y="283464"/>
            <ns1:ext cx="1408176" cy="2103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950" b="1" lang="fa-IR">
                <ns1:solidFill>
                  <ns1:srgbClr val="F1B73E"/>
                </ns1:solidFill>
                <ns1:latin typeface="Tahoma"/>
              </ns1:rPr>
              <ns1:t>حق</ns1:t>
            </ns1:r>
          </ns1:p>
        </ns0:txBody>
      </ns0:sp>
      <ns0:sp>
        <ns0:nvSpPr>
          <ns0:cNvPr id="6" name="!!Title"/>
          <ns0:cNvSpPr txBox="1"/>
          <ns0:nvPr/>
        </ns0:nvSpPr>
        <ns0:spPr>
          <ns1:xfrm>
            <ns1:off x="621792" y="640080"/>
            <ns1:ext cx="10698480" cy="4389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2900" b="1" lang="fa-IR">
                <ns1:solidFill>
                  <ns1:srgbClr val="F7FAFC"/>
                </ns1:solidFill>
                <ns1:latin typeface="Tahoma"/>
              </ns1:rPr>
              <ns1:t>حق یعنی چه چیزی باید داشته باشیم؟</ns1:t>
            </ns1:r>
          </ns1:p>
        </ns0:txBody>
      </ns0:sp>
      <ns0:sp>
        <ns0:nvSpPr>
          <ns0:cNvPr id="7" name="!!Rule"/>
          <ns0:cNvSpPr/>
          <ns0:nvPr/>
        </ns0:nvSpPr>
        <ns0:spPr>
          <ns1:xfrm>
            <ns1:off x="621792" y="1161288"/>
            <ns1:ext cx="1325880" cy="23774"/>
          </ns1:xfrm>
          <ns1:prstGeom prst="rect">
            <ns1:avLst/>
          </ns1:prstGeom>
          <ns1:solidFill>
            <ns1:srgbClr val="F1B73E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621792" y="6446520"/>
            <ns1:ext cx="2743200" cy="201168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850" b="0" lang="fa-IR">
                <ns1:solidFill>
                  <ns1:srgbClr val="7E99A9"/>
                </ns1:solidFill>
                <ns1:latin typeface="Tahoma"/>
              </ns1:rPr>
              <ns1:t>مطالعات اجتماعی هفتم • درس ۳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7909560" y="6419088"/>
            <ns1:ext cx="2331720" cy="201168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850" b="1" lang="fa-IR">
                <ns1:solidFill>
                  <ns1:srgbClr val="F1B73E"/>
                </ns1:solidFill>
                <ns1:latin typeface="Tahoma"/>
              </ns1:rPr>
              <ns1:t>ارائه: گله‌دار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10808208" y="6391656"/>
            <ns1:ext cx="749808" cy="25603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1000" b="1" lang="fa-IR">
                <ns1:solidFill>
                  <ns1:srgbClr val="F1B73E"/>
                </ns1:solidFill>
                <ns1:latin typeface="Tahoma"/>
              </ns1:rPr>
              <ns1:t>۱۲ / ۱۸</ns1:t>
            </ns1:r>
          </ns1:p>
        </ns0:txBody>
      </ns0:sp>
      <ns0:sp>
        <ns0:nvSpPr>
          <ns0:cNvPr id="11" name="Rectangle 10"/>
          <ns0:cNvSpPr/>
          <ns0:nvPr/>
        </ns0:nvSpPr>
        <ns0:spPr>
          <ns1:xfrm>
            <ns1:off x="621792" y="6254496"/>
            <ns1:ext cx="10936224" cy="16459"/>
          </ns1:xfrm>
          <ns1:prstGeom prst="rect">
            <ns1:avLst/>
          </ns1:prstGeom>
          <ns1:solidFill>
            <ns1:srgbClr val="2D435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!!Progress"/>
          <ns0:cNvSpPr/>
          <ns0:nvPr/>
        </ns0:nvSpPr>
        <ns0:spPr>
          <ns1:xfrm>
            <ns1:off x="621792" y="6236208"/>
            <ns1:ext cx="7290816" cy="41148"/>
          </ns1:xfrm>
          <ns1:prstGeom prst="rect">
            <ns1:avLst/>
          </ns1:prstGeom>
          <ns1:solidFill>
            <ns1:srgbClr val="F1B73E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13" name="Picture 12" descr="pulse.gif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10652760" y="5029200"/>
            <ns1:ext cx="658368" cy="658368"/>
          </ns1:xfrm>
          <ns1:prstGeom prst="rect">
            <ns1:avLst/>
          </ns1:prstGeom>
        </ns0:spPr>
      </ns0:pic>
      <ns0:sp>
        <ns0:nvSpPr>
          <ns0:cNvPr id="14" name="Rounded Rectangle 13"/>
          <ns0:cNvSpPr/>
          <ns0:nvPr/>
        </ns0:nvSpPr>
        <ns0:spPr>
          <ns1:xfrm>
            <ns1:off x="822960" y="1828800"/>
            <ns1:ext cx="3246120" cy="2331720"/>
          </ns1:xfrm>
          <ns1:prstGeom prst="roundRect">
            <ns1:avLst/>
          </ns1:prstGeom>
          <ns1:solidFill>
            <ns1:srgbClr val="061A2A"/>
          </ns1:solidFill>
          <ns1:ln w="15875">
            <ns1:solidFill>
              <ns1:srgbClr val="5B7A8B"/>
            </ns1:solidFill>
          </ns1:ln>
          <ns1:effectLst>
            <ns1:outerShdw blurRad="65000" dist="25000" dir="2700000" algn="ctr" rotWithShape="0">
              <ns1:srgbClr val="000000">
                <ns1:alpha val="45000"/>
              </ns1:srgbClr>
            </ns1:outerShdw>
          </ns1:effectLst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850392" y="1856231"/>
            <ns1:ext cx="3191256" cy="45720"/>
          </ns1:xfrm>
          <ns1:prstGeom prst="roundRect">
            <ns1:avLst/>
          </ns1:prstGeom>
          <ns1:solidFill>
            <ns1:srgbClr val="F7FAFC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4018788" y="2011680"/>
            <ns1:ext cx="32004" cy="1965960"/>
          </ns1:xfrm>
          <ns1:prstGeom prst="roundRect">
            <ns1:avLst/>
          </ns1:prstGeom>
          <ns1:solidFill>
            <ns1:srgbClr val="F1B73E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1005840" y="2194560"/>
            <ns1:ext cx="2880360" cy="4389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2200" b="1" lang="fa-IR">
                <ns1:solidFill>
                  <ns1:srgbClr val="F1B73E"/>
                </ns1:solidFill>
                <ns1:latin typeface="Tahoma"/>
              </ns1:rPr>
              <ns1:t>آموزش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1024128" y="3063240"/>
            <ns1:ext cx="2834640" cy="4389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1450" b="1" lang="fa-IR">
                <ns1:solidFill>
                  <ns1:srgbClr val="F7FAFC"/>
                </ns1:solidFill>
                <ns1:latin typeface="Tahoma"/>
              </ns1:rPr>
              <ns1:t>فرصت یادگیری</ns1:t>
            </ns1:r>
          </ns1:p>
        </ns0:txBody>
      </ns0:sp>
      <ns0:sp>
        <ns0:nvSpPr>
          <ns0:cNvPr id="19" name="Rounded Rectangle 18"/>
          <ns0:cNvSpPr/>
          <ns0:nvPr/>
        </ns0:nvSpPr>
        <ns0:spPr>
          <ns1:xfrm>
            <ns1:off x="4553712" y="1828800"/>
            <ns1:ext cx="3246120" cy="2331720"/>
          </ns1:xfrm>
          <ns1:prstGeom prst="roundRect">
            <ns1:avLst/>
          </ns1:prstGeom>
          <ns1:solidFill>
            <ns1:srgbClr val="061A2A"/>
          </ns1:solidFill>
          <ns1:ln w="15875">
            <ns1:solidFill>
              <ns1:srgbClr val="5B7A8B"/>
            </ns1:solidFill>
          </ns1:ln>
          <ns1:effectLst>
            <ns1:outerShdw blurRad="65000" dist="25000" dir="2700000" algn="ctr" rotWithShape="0">
              <ns1:srgbClr val="000000">
                <ns1:alpha val="45000"/>
              </ns1:srgbClr>
            </ns1:outerShdw>
          </ns1:effectLst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0" name="Rounded Rectangle 19"/>
          <ns0:cNvSpPr/>
          <ns0:nvPr/>
        </ns0:nvSpPr>
        <ns0:spPr>
          <ns1:xfrm>
            <ns1:off x="4581144" y="1856231"/>
            <ns1:ext cx="3191256" cy="45720"/>
          </ns1:xfrm>
          <ns1:prstGeom prst="roundRect">
            <ns1:avLst/>
          </ns1:prstGeom>
          <ns1:solidFill>
            <ns1:srgbClr val="F7FAFC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Rounded Rectangle 20"/>
          <ns0:cNvSpPr/>
          <ns0:nvPr/>
        </ns0:nvSpPr>
        <ns0:spPr>
          <ns1:xfrm>
            <ns1:off x="7749540" y="2011680"/>
            <ns1:ext cx="32004" cy="1965960"/>
          </ns1:xfrm>
          <ns1:prstGeom prst="roundRect">
            <ns1:avLst/>
          </ns1:prstGeom>
          <ns1:solidFill>
            <ns1:srgbClr val="45A2E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4736592" y="2194560"/>
            <ns1:ext cx="2880360" cy="4389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2200" b="1" lang="fa-IR">
                <ns1:solidFill>
                  <ns1:srgbClr val="45A2E0"/>
                </ns1:solidFill>
                <ns1:latin typeface="Tahoma"/>
              </ns1:rPr>
              <ns1:t>امنیت</ns1:t>
            </ns1: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4754880" y="3063240"/>
            <ns1:ext cx="2834640" cy="4389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1450" b="1" lang="fa-IR">
                <ns1:solidFill>
                  <ns1:srgbClr val="F7FAFC"/>
                </ns1:solidFill>
                <ns1:latin typeface="Tahoma"/>
              </ns1:rPr>
              <ns1:t>زندگی بدون ترس</ns1:t>
            </ns1:r>
          </ns1:p>
        </ns0:txBody>
      </ns0:sp>
      <ns0:sp>
        <ns0:nvSpPr>
          <ns0:cNvPr id="24" name="Rounded Rectangle 23"/>
          <ns0:cNvSpPr/>
          <ns0:nvPr/>
        </ns0:nvSpPr>
        <ns0:spPr>
          <ns1:xfrm>
            <ns1:off x="8284464" y="1828800"/>
            <ns1:ext cx="3246120" cy="2331720"/>
          </ns1:xfrm>
          <ns1:prstGeom prst="roundRect">
            <ns1:avLst/>
          </ns1:prstGeom>
          <ns1:solidFill>
            <ns1:srgbClr val="061A2A"/>
          </ns1:solidFill>
          <ns1:ln w="15875">
            <ns1:solidFill>
              <ns1:srgbClr val="5B7A8B"/>
            </ns1:solidFill>
          </ns1:ln>
          <ns1:effectLst>
            <ns1:outerShdw blurRad="65000" dist="25000" dir="2700000" algn="ctr" rotWithShape="0">
              <ns1:srgbClr val="000000">
                <ns1:alpha val="45000"/>
              </ns1:srgbClr>
            </ns1:outerShdw>
          </ns1:effectLst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5" name="Rounded Rectangle 24"/>
          <ns0:cNvSpPr/>
          <ns0:nvPr/>
        </ns0:nvSpPr>
        <ns0:spPr>
          <ns1:xfrm>
            <ns1:off x="8311896" y="1856231"/>
            <ns1:ext cx="3191256" cy="45720"/>
          </ns1:xfrm>
          <ns1:prstGeom prst="roundRect">
            <ns1:avLst/>
          </ns1:prstGeom>
          <ns1:solidFill>
            <ns1:srgbClr val="F7FAFC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6" name="Rounded Rectangle 25"/>
          <ns0:cNvSpPr/>
          <ns0:nvPr/>
        </ns0:nvSpPr>
        <ns0:spPr>
          <ns1:xfrm>
            <ns1:off x="11480292" y="2011680"/>
            <ns1:ext cx="32004" cy="1965960"/>
          </ns1:xfrm>
          <ns1:prstGeom prst="roundRect">
            <ns1:avLst/>
          </ns1:prstGeom>
          <ns1:solidFill>
            <ns1:srgbClr val="50CDD7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7" name="TextBox 26"/>
          <ns0:cNvSpPr txBox="1"/>
          <ns0:nvPr/>
        </ns0:nvSpPr>
        <ns0:spPr>
          <ns1:xfrm>
            <ns1:off x="8467344" y="2194560"/>
            <ns1:ext cx="2880360" cy="4389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2200" b="1" lang="fa-IR">
                <ns1:solidFill>
                  <ns1:srgbClr val="50CDD7"/>
                </ns1:solidFill>
                <ns1:latin typeface="Tahoma"/>
              </ns1:rPr>
              <ns1:t>احترام</ns1:t>
            </ns1:r>
          </ns1:p>
        </ns0:txBody>
      </ns0:sp>
      <ns0:sp>
        <ns0:nvSpPr>
          <ns0:cNvPr id="28" name="TextBox 27"/>
          <ns0:cNvSpPr txBox="1"/>
          <ns0:nvPr/>
        </ns0:nvSpPr>
        <ns0:spPr>
          <ns1:xfrm>
            <ns1:off x="8485632" y="3063240"/>
            <ns1:ext cx="2834640" cy="4389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1450" b="1" lang="fa-IR">
                <ns1:solidFill>
                  <ns1:srgbClr val="F7FAFC"/>
                </ns1:solidFill>
                <ns1:latin typeface="Tahoma"/>
              </ns1:rPr>
              <ns1:t>حفظ شأن انسان</ns1:t>
            </ns1:r>
          </ns1:p>
        </ns0:txBody>
      </ns0:sp>
      <ns0:sp>
        <ns0:nvSpPr>
          <ns0:cNvPr id="29" name="TextBox 28"/>
          <ns0:cNvSpPr txBox="1"/>
          <ns0:nvPr/>
        </ns0:nvSpPr>
        <ns0:spPr>
          <ns1:xfrm>
            <ns1:off x="1828800" y="4892040"/>
            <ns1:ext cx="8503920" cy="457200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1700" b="1" lang="fa-IR">
                <ns1:solidFill>
                  <ns1:srgbClr val="C9E5F1"/>
                </ns1:solidFill>
                <ns1:latin typeface="Tahoma"/>
              </ns1:rPr>
              <ns1:t>قانون، این حق‌ها را برای همه قابل دفاع می‌کند.</ns1:t>
            </ns1:r>
          </ns1:p>
        </ns0:txBody>
      </ns0:sp>
    </ns0:spTree>
  </ns0:cSld>
  <ns0:clrMapOvr>
    <ns1:masterClrMapping/>
  </ns0:clrMapOvr>
  <ns0:transition spd="med" advClick="1">
    <ns0:push dir="l"/>
    <ns0:sndAc>
      <ns0:stSnd>
        <ns0:snd ns2:embed="rIdSfx1" name="chime"/>
      </ns0:stSnd>
    </ns0:sndAc>
  </ns0:transition>
</ns0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opShade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56032"/>
            <a:ext cx="1572768" cy="301752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F1B73E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704088" y="283464"/>
            <a:ext cx="1408176" cy="2103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1B73E"/>
                </a:solidFill>
                <a:latin typeface="Tahoma"/>
              </a:rPr>
              <a:t>تکلیف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40080"/>
            <a:ext cx="1069848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7FAFC"/>
                </a:solidFill>
                <a:latin typeface="Tahoma"/>
              </a:rPr>
              <a:t>هر حق، یک مسئولیت همراه دارد</a:t>
            </a:r>
          </a:p>
        </p:txBody>
      </p:sp>
      <p:sp>
        <p:nvSpPr>
          <p:cNvPr id="7" name="!!Rule"/>
          <p:cNvSpPr/>
          <p:nvPr/>
        </p:nvSpPr>
        <p:spPr>
          <a:xfrm>
            <a:off x="621792" y="1161288"/>
            <a:ext cx="1325880" cy="23774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27432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0" lang="fa-IR">
                <a:solidFill>
                  <a:srgbClr val="7E99A9"/>
                </a:solidFill>
                <a:latin typeface="Tahoma"/>
              </a:rPr>
              <a:t>مطالعات اجتماعی هفتم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419088"/>
            <a:ext cx="23317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F1B73E"/>
                </a:solidFill>
                <a:latin typeface="Tahoma"/>
              </a:rPr>
              <a:t>ارائه: گله‌دار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391656"/>
            <a:ext cx="74980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F1B73E"/>
                </a:solidFill>
                <a:latin typeface="Tahoma"/>
              </a:rPr>
              <a:t>۱۳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254496"/>
            <a:ext cx="10936224" cy="16459"/>
          </a:xfrm>
          <a:prstGeom prst="rect">
            <a:avLst/>
          </a:prstGeom>
          <a:solidFill>
            <a:srgbClr val="2D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21792" y="6236208"/>
            <a:ext cx="7898384" cy="41148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554480"/>
            <a:ext cx="1060704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900" b="1" lang="fa-IR">
                <a:solidFill>
                  <a:srgbClr val="F1B73E"/>
                </a:solidFill>
                <a:latin typeface="Tahoma"/>
              </a:rPr>
              <a:t>حق من  ↔  مسئولیت من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06040"/>
            <a:ext cx="42062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550" b="1" lang="fa-IR">
                <a:solidFill>
                  <a:srgbClr val="F1B73E"/>
                </a:solidFill>
                <a:latin typeface="Tahoma"/>
              </a:rPr>
              <a:t>حق استفاده از کلاس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606040"/>
            <a:ext cx="42519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550" b="1" lang="fa-IR">
                <a:solidFill>
                  <a:srgbClr val="45A2E0"/>
                </a:solidFill>
                <a:latin typeface="Tahoma"/>
              </a:rPr>
              <a:t>تکلیف حفظ نظم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25312" y="2578608"/>
            <a:ext cx="22860" cy="438912"/>
          </a:xfrm>
          <a:prstGeom prst="rect">
            <a:avLst/>
          </a:prstGeom>
          <a:solidFill>
            <a:srgbClr val="7E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42062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550" b="1" lang="fa-IR">
                <a:solidFill>
                  <a:srgbClr val="F1B73E"/>
                </a:solidFill>
                <a:latin typeface="Tahoma"/>
              </a:rPr>
              <a:t>حق استفاده از پارک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66160"/>
            <a:ext cx="42519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550" b="1" lang="fa-IR">
                <a:solidFill>
                  <a:srgbClr val="45A2E0"/>
                </a:solidFill>
                <a:latin typeface="Tahoma"/>
              </a:rPr>
              <a:t>تکلیف مراقبت از وسایل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25312" y="3538728"/>
            <a:ext cx="22860" cy="438912"/>
          </a:xfrm>
          <a:prstGeom prst="rect">
            <a:avLst/>
          </a:prstGeom>
          <a:solidFill>
            <a:srgbClr val="7E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526280"/>
            <a:ext cx="42062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550" b="1" lang="fa-IR">
                <a:solidFill>
                  <a:srgbClr val="F1B73E"/>
                </a:solidFill>
                <a:latin typeface="Tahoma"/>
              </a:rPr>
              <a:t>حق احترام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526280"/>
            <a:ext cx="42519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550" b="1" lang="fa-IR">
                <a:solidFill>
                  <a:srgbClr val="45A2E0"/>
                </a:solidFill>
                <a:latin typeface="Tahoma"/>
              </a:rPr>
              <a:t>تکلیف احترام به دیگران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25312" y="4498848"/>
            <a:ext cx="22860" cy="438912"/>
          </a:xfrm>
          <a:prstGeom prst="rect">
            <a:avLst/>
          </a:prstGeom>
          <a:solidFill>
            <a:srgbClr val="7E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Shade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56032"/>
            <a:ext cx="1572768" cy="301752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F1B73E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704088" y="283464"/>
            <a:ext cx="1408176" cy="2103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1B73E"/>
                </a:solidFill>
                <a:latin typeface="Tahoma"/>
              </a:rPr>
              <a:t>تعادل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40080"/>
            <a:ext cx="1069848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7FAFC"/>
                </a:solidFill>
                <a:latin typeface="Tahoma"/>
              </a:rPr>
              <a:t>حق و تکلیف؛ دو کفهٔ یک ترازو</a:t>
            </a:r>
          </a:p>
        </p:txBody>
      </p:sp>
      <p:sp>
        <p:nvSpPr>
          <p:cNvPr id="7" name="!!Rule"/>
          <p:cNvSpPr/>
          <p:nvPr/>
        </p:nvSpPr>
        <p:spPr>
          <a:xfrm>
            <a:off x="621792" y="1161288"/>
            <a:ext cx="1325880" cy="23774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27432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0" lang="fa-IR">
                <a:solidFill>
                  <a:srgbClr val="7E99A9"/>
                </a:solidFill>
                <a:latin typeface="Tahoma"/>
              </a:rPr>
              <a:t>مطالعات اجتماعی هفتم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419088"/>
            <a:ext cx="23317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F1B73E"/>
                </a:solidFill>
                <a:latin typeface="Tahoma"/>
              </a:rPr>
              <a:t>ارائه: گله‌دار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391656"/>
            <a:ext cx="74980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F1B73E"/>
                </a:solidFill>
                <a:latin typeface="Tahoma"/>
              </a:rPr>
              <a:t>۱۴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254496"/>
            <a:ext cx="10936224" cy="16459"/>
          </a:xfrm>
          <a:prstGeom prst="rect">
            <a:avLst/>
          </a:prstGeom>
          <a:solidFill>
            <a:srgbClr val="2D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21792" y="6236208"/>
            <a:ext cx="8505952" cy="41148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27648" y="1335024"/>
            <a:ext cx="5065776" cy="1993392"/>
          </a:xfrm>
          <a:prstGeom prst="roundRect">
            <a:avLst/>
          </a:prstGeom>
          <a:solidFill>
            <a:srgbClr val="061A2A"/>
          </a:solidFill>
          <a:ln w="15875">
            <a:solidFill>
              <a:srgbClr val="5B7A8B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362456"/>
            <a:ext cx="5010912" cy="457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343132" y="1517904"/>
            <a:ext cx="32004" cy="1627632"/>
          </a:xfrm>
          <a:prstGeom prst="round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81328"/>
            <a:ext cx="4736592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1B73E"/>
                </a:solidFill>
                <a:latin typeface="Tahoma"/>
              </a:rPr>
              <a:t>تعادل جامعه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139696"/>
            <a:ext cx="960120" cy="22860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04288"/>
            <a:ext cx="473659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50" b="0" lang="fa-IR">
                <a:solidFill>
                  <a:srgbClr val="C9E5F1"/>
                </a:solidFill>
                <a:latin typeface="Tahoma"/>
              </a:rPr>
              <a:t>اگر فقط حق بخواهیم و تکلیف را انجام ندهیم، حق دیگران ضایع می‌شود.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13648" y="4251960"/>
            <a:ext cx="2651760" cy="585216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F1B73E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4306824"/>
            <a:ext cx="67665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F1B73E"/>
                </a:solidFill>
                <a:latin typeface="Tahoma"/>
              </a:rPr>
              <a:t>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4325112"/>
            <a:ext cx="1609344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F7FAFC"/>
                </a:solidFill>
                <a:latin typeface="Tahoma"/>
              </a:rPr>
              <a:t>حق + تکلیف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onstitution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opShade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56032"/>
            <a:ext cx="1572768" cy="301752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F1B73E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704088" y="283464"/>
            <a:ext cx="1408176" cy="2103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1B73E"/>
                </a:solidFill>
                <a:latin typeface="Tahoma"/>
              </a:rPr>
              <a:t>قانون اساسی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40080"/>
            <a:ext cx="1069848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7FAFC"/>
                </a:solidFill>
                <a:latin typeface="Tahoma"/>
              </a:rPr>
              <a:t>مادر قوانین کشور</a:t>
            </a:r>
          </a:p>
        </p:txBody>
      </p:sp>
      <p:sp>
        <p:nvSpPr>
          <p:cNvPr id="7" name="!!Rule"/>
          <p:cNvSpPr/>
          <p:nvPr/>
        </p:nvSpPr>
        <p:spPr>
          <a:xfrm>
            <a:off x="621792" y="1161288"/>
            <a:ext cx="1325880" cy="23774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27432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0" lang="fa-IR">
                <a:solidFill>
                  <a:srgbClr val="7E99A9"/>
                </a:solidFill>
                <a:latin typeface="Tahoma"/>
              </a:rPr>
              <a:t>مطالعات اجتماعی هفتم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419088"/>
            <a:ext cx="23317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F1B73E"/>
                </a:solidFill>
                <a:latin typeface="Tahoma"/>
              </a:rPr>
              <a:t>ارائه: محمدرضا فولادی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391656"/>
            <a:ext cx="74980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F1B73E"/>
                </a:solidFill>
                <a:latin typeface="Tahoma"/>
              </a:rPr>
              <a:t>۱۵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254496"/>
            <a:ext cx="10936224" cy="16459"/>
          </a:xfrm>
          <a:prstGeom prst="rect">
            <a:avLst/>
          </a:prstGeom>
          <a:solidFill>
            <a:srgbClr val="2D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21792" y="6236208"/>
            <a:ext cx="9113520" cy="41148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335024"/>
            <a:ext cx="5102352" cy="1993392"/>
          </a:xfrm>
          <a:prstGeom prst="roundRect">
            <a:avLst/>
          </a:prstGeom>
          <a:solidFill>
            <a:srgbClr val="061A2A"/>
          </a:solidFill>
          <a:ln w="15875">
            <a:solidFill>
              <a:srgbClr val="5B7A8B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" y="1362456"/>
            <a:ext cx="5047488" cy="457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92140" y="1517904"/>
            <a:ext cx="32004" cy="1627632"/>
          </a:xfrm>
          <a:prstGeom prst="round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1481328"/>
            <a:ext cx="4773168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1B73E"/>
                </a:solidFill>
                <a:latin typeface="Tahoma"/>
              </a:rPr>
              <a:t>چارچوب اصلی کشور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2139696"/>
            <a:ext cx="960120" cy="22860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304288"/>
            <a:ext cx="4773168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50" b="0" lang="fa-IR">
                <a:solidFill>
                  <a:srgbClr val="C9E5F1"/>
                </a:solidFill>
                <a:latin typeface="Tahoma"/>
              </a:rPr>
              <a:t>حقوق عمومی و ساختار نهادها را مشخص می‌کند؛ قوانین دیگر نباید با آن ناسازگار باشند.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79392"/>
            <a:ext cx="2651760" cy="585216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F1B73E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34255"/>
            <a:ext cx="67665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F1B73E"/>
                </a:solidFill>
                <a:latin typeface="Tahoma"/>
              </a:rPr>
              <a:t>۱۲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352544"/>
            <a:ext cx="1609344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F7FAFC"/>
                </a:solidFill>
                <a:latin typeface="Tahoma"/>
              </a:rPr>
              <a:t>آذر ۱۳۵۸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1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30A11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!!TopShade"/>
          <ns0:cNvSpPr/>
          <ns0:nvPr/>
        </ns0:nvSpPr>
        <ns0:spPr>
          <ns1:xfrm>
            <ns1:off x="0" y="0"/>
            <ns1:ext cx="12191695" cy="1243584"/>
          </ns1:xfrm>
          <ns1:prstGeom prst="rect">
            <ns1:avLst/>
          </ns1:prstGeom>
          <ns1:solidFill>
            <ns1:srgbClr val="030A11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621792" y="256032"/>
            <ns1:ext cx="1572768" cy="301752"/>
          </ns1:xfrm>
          <ns1:prstGeom prst="roundRect">
            <ns1:avLst/>
          </ns1:prstGeom>
          <ns1:solidFill>
            <ns1:srgbClr val="061624"/>
          </ns1:solidFill>
          <ns1:ln w="15875">
            <ns1:solidFill>
              <ns1:srgbClr val="45A2E0"/>
            </ns1:solidFill>
          </ns1:ln>
          <ns1:effectLst>
            <ns1:outerShdw blurRad="65000" dist="25000" dir="2700000" algn="ctr" rotWithShape="0">
              <ns1:srgbClr val="000000">
                <ns1:alpha val="45000"/>
              </ns1:srgbClr>
            </ns1:outerShdw>
          </ns1:effectLst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!!Kicker"/>
          <ns0:cNvSpPr txBox="1"/>
          <ns0:nvPr/>
        </ns0:nvSpPr>
        <ns0:spPr>
          <ns1:xfrm>
            <ns1:off x="704088" y="283464"/>
            <ns1:ext cx="1408176" cy="2103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950" b="1" lang="fa-IR">
                <ns1:solidFill>
                  <ns1:srgbClr val="45A2E0"/>
                </ns1:solidFill>
                <ns1:latin typeface="Tahoma"/>
              </ns1:rPr>
              <ns1:t>مرور</ns1:t>
            </ns1:r>
          </ns1:p>
        </ns0:txBody>
      </ns0:sp>
      <ns0:sp>
        <ns0:nvSpPr>
          <ns0:cNvPr id="6" name="!!Title"/>
          <ns0:cNvSpPr txBox="1"/>
          <ns0:nvPr/>
        </ns0:nvSpPr>
        <ns0:spPr>
          <ns1:xfrm>
            <ns1:off x="621792" y="640080"/>
            <ns1:ext cx="10698480" cy="43891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2900" b="1" lang="fa-IR">
                <ns1:solidFill>
                  <ns1:srgbClr val="F7FAFC"/>
                </ns1:solidFill>
                <ns1:latin typeface="Tahoma"/>
              </ns1:rPr>
              <ns1:t>سه سؤال پیش از هر تصمیم</ns1:t>
            </ns1:r>
          </ns1:p>
        </ns0:txBody>
      </ns0:sp>
      <ns0:sp>
        <ns0:nvSpPr>
          <ns0:cNvPr id="7" name="!!Rule"/>
          <ns0:cNvSpPr/>
          <ns0:nvPr/>
        </ns0:nvSpPr>
        <ns0:spPr>
          <ns1:xfrm>
            <ns1:off x="621792" y="1161288"/>
            <ns1:ext cx="1325880" cy="23774"/>
          </ns1:xfrm>
          <ns1:prstGeom prst="rect">
            <ns1:avLst/>
          </ns1:prstGeom>
          <ns1:solidFill>
            <ns1:srgbClr val="45A2E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621792" y="6446520"/>
            <ns1:ext cx="2743200" cy="201168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850" b="0" lang="fa-IR">
                <ns1:solidFill>
                  <ns1:srgbClr val="7E99A9"/>
                </ns1:solidFill>
                <ns1:latin typeface="Tahoma"/>
              </ns1:rPr>
              <ns1:t>مطالعات اجتماعی هفتم • درس ۳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7909560" y="6419088"/>
            <ns1:ext cx="2331720" cy="201168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850" b="1" lang="fa-IR">
                <ns1:solidFill>
                  <ns1:srgbClr val="45A2E0"/>
                </ns1:solidFill>
                <ns1:latin typeface="Tahoma"/>
              </ns1:rPr>
              <ns1:t>ارائه: محمدرضا فولادی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10808208" y="6391656"/>
            <ns1:ext cx="749808" cy="25603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1000" b="1" lang="fa-IR">
                <ns1:solidFill>
                  <ns1:srgbClr val="45A2E0"/>
                </ns1:solidFill>
                <ns1:latin typeface="Tahoma"/>
              </ns1:rPr>
              <ns1:t>۱۶ / ۱۸</ns1:t>
            </ns1:r>
          </ns1:p>
        </ns0:txBody>
      </ns0:sp>
      <ns0:sp>
        <ns0:nvSpPr>
          <ns0:cNvPr id="11" name="Rectangle 10"/>
          <ns0:cNvSpPr/>
          <ns0:nvPr/>
        </ns0:nvSpPr>
        <ns0:spPr>
          <ns1:xfrm>
            <ns1:off x="621792" y="6254496"/>
            <ns1:ext cx="10936224" cy="16459"/>
          </ns1:xfrm>
          <ns1:prstGeom prst="rect">
            <ns1:avLst/>
          </ns1:prstGeom>
          <ns1:solidFill>
            <ns1:srgbClr val="2D435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!!Progress"/>
          <ns0:cNvSpPr/>
          <ns0:nvPr/>
        </ns0:nvSpPr>
        <ns0:spPr>
          <ns1:xfrm>
            <ns1:off x="621792" y="6236208"/>
            <ns1:ext cx="9721088" cy="41148"/>
          </ns1:xfrm>
          <ns1:prstGeom prst="rect">
            <ns1:avLst/>
          </ns1:prstGeom>
          <ns1:solidFill>
            <ns1:srgbClr val="45A2E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1261872" y="1572768"/>
            <ns1:ext cx="9646920" cy="749808"/>
          </ns1:xfrm>
          <ns1:prstGeom prst="roundRect">
            <ns1:avLst/>
          </ns1:prstGeom>
          <ns1:solidFill>
            <ns1:srgbClr val="061624"/>
          </ns1:solidFill>
          <ns1:ln w="15875">
            <ns1:solidFill>
              <ns1:srgbClr val="45A2E0"/>
            </ns1:solidFill>
          </ns1:ln>
          <ns1:effectLst>
            <ns1:outerShdw blurRad="65000" dist="25000" dir="2700000" algn="ctr" rotWithShape="0">
              <ns1:srgbClr val="000000">
                <ns1:alpha val="45000"/>
              </ns1:srgbClr>
            </ns1:outerShdw>
          </ns1:effectLst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1508760" y="1664208"/>
            <ns1:ext cx="658368" cy="53035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2100" b="1" lang="fa-IR">
                <ns1:solidFill>
                  <ns1:srgbClr val="45A2E0"/>
                </ns1:solidFill>
                <ns1:latin typeface="Tahoma"/>
              </ns1:rPr>
              <ns1:t>۱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2423160" y="1673352"/>
            <ns1:ext cx="8001000" cy="475488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1900" b="1" lang="fa-IR">
                <ns1:solidFill>
                  <ns1:srgbClr val="F7FAFC"/>
                </ns1:solidFill>
                <ns1:latin typeface="Tahoma"/>
              </ns1:rPr>
              <ns1:t>آیا کسی آسیب می‌بیند؟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1261872" y="2834639"/>
            <ns1:ext cx="9646920" cy="749808"/>
          </ns1:xfrm>
          <ns1:prstGeom prst="roundRect">
            <ns1:avLst/>
          </ns1:prstGeom>
          <ns1:solidFill>
            <ns1:srgbClr val="061624"/>
          </ns1:solidFill>
          <ns1:ln w="15875">
            <ns1:solidFill>
              <ns1:srgbClr val="45A2E0"/>
            </ns1:solidFill>
          </ns1:ln>
          <ns1:effectLst>
            <ns1:outerShdw blurRad="65000" dist="25000" dir="2700000" algn="ctr" rotWithShape="0">
              <ns1:srgbClr val="000000">
                <ns1:alpha val="45000"/>
              </ns1:srgbClr>
            </ns1:outerShdw>
          </ns1:effectLst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1508760" y="2926079"/>
            <ns1:ext cx="658368" cy="53035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2100" b="1" lang="fa-IR">
                <ns1:solidFill>
                  <ns1:srgbClr val="45A2E0"/>
                </ns1:solidFill>
                <ns1:latin typeface="Tahoma"/>
              </ns1:rPr>
              <ns1:t>۲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2423160" y="2935223"/>
            <ns1:ext cx="8001000" cy="475488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1900" b="1" lang="fa-IR">
                <ns1:solidFill>
                  <ns1:srgbClr val="F7FAFC"/>
                </ns1:solidFill>
                <ns1:latin typeface="Tahoma"/>
              </ns1:rPr>
              <ns1:t>اگر همه انجام دهند چه می‌شود؟</ns1:t>
            </ns1:r>
          </ns1:p>
        </ns0:txBody>
      </ns0:sp>
      <ns0:sp>
        <ns0:nvSpPr>
          <ns0:cNvPr id="19" name="Rounded Rectangle 18"/>
          <ns0:cNvSpPr/>
          <ns0:nvPr/>
        </ns0:nvSpPr>
        <ns0:spPr>
          <ns1:xfrm>
            <ns1:off x="1261872" y="4096511"/>
            <ns1:ext cx="9646920" cy="749808"/>
          </ns1:xfrm>
          <ns1:prstGeom prst="roundRect">
            <ns1:avLst/>
          </ns1:prstGeom>
          <ns1:solidFill>
            <ns1:srgbClr val="061624"/>
          </ns1:solidFill>
          <ns1:ln w="15875">
            <ns1:solidFill>
              <ns1:srgbClr val="45A2E0"/>
            </ns1:solidFill>
          </ns1:ln>
          <ns1:effectLst>
            <ns1:outerShdw blurRad="65000" dist="25000" dir="2700000" algn="ctr" rotWithShape="0">
              <ns1:srgbClr val="000000">
                <ns1:alpha val="45000"/>
              </ns1:srgbClr>
            </ns1:outerShdw>
          </ns1:effectLst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1508760" y="4187951"/>
            <ns1:ext cx="658368" cy="53035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2100" b="1" lang="fa-IR">
                <ns1:solidFill>
                  <ns1:srgbClr val="45A2E0"/>
                </ns1:solidFill>
                <ns1:latin typeface="Tahoma"/>
              </ns1:rPr>
              <ns1:t>۳</ns1:t>
            </ns1:r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2423160" y="4197096"/>
            <ns1:ext cx="8001000" cy="475488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1900" b="1" lang="fa-IR">
                <ns1:solidFill>
                  <ns1:srgbClr val="F7FAFC"/>
                </ns1:solidFill>
                <ns1:latin typeface="Tahoma"/>
              </ns1:rPr>
              <ns1:t>آیا پیامدش را می‌پذیرم؟</ns1:t>
            </ns1:r>
          </ns1:p>
        </ns0:txBody>
      </ns0:sp>
    </ns0:spTree>
  </ns0:cSld>
  <ns0:clrMapOvr>
    <ns1:masterClrMapping/>
  </ns0:clrMapOvr>
  <ns0:transition spd="med" advClick="1">
    <ns0:push dir="l"/>
    <ns0:sndAc>
      <ns0:stSnd>
        <ns0:snd ns2:embed="rIdSfx1" name="whoosh"/>
      </ns0:stSnd>
    </ns0:sndAc>
  </ns0:transition>
</ns0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opShade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3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56032"/>
            <a:ext cx="1572768" cy="301752"/>
          </a:xfrm>
          <a:prstGeom prst="roundRect">
            <a:avLst/>
          </a:prstGeom>
          <a:solidFill>
            <a:srgbClr val="061624"/>
          </a:solidFill>
          <a:ln w="15875">
            <a:solidFill>
              <a:srgbClr val="45A2E0"/>
            </a:solidFill>
          </a:ln>
          <a:effectLst>
            <a:outerShdw blurRad="65000" dist="25000" dir="27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704088" y="283464"/>
            <a:ext cx="1408176" cy="2103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5A2E0"/>
                </a:solidFill>
                <a:latin typeface="Tahoma"/>
              </a:rPr>
              <a:t>جمع‌بندی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40080"/>
            <a:ext cx="1069848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7FAFC"/>
                </a:solidFill>
                <a:latin typeface="Tahoma"/>
              </a:rPr>
              <a:t>سه نکته‌ای که باید بماند</a:t>
            </a:r>
          </a:p>
        </p:txBody>
      </p:sp>
      <p:sp>
        <p:nvSpPr>
          <p:cNvPr id="7" name="!!Rule"/>
          <p:cNvSpPr/>
          <p:nvPr/>
        </p:nvSpPr>
        <p:spPr>
          <a:xfrm>
            <a:off x="621792" y="1161288"/>
            <a:ext cx="1325880" cy="23774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27432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0" lang="fa-IR">
                <a:solidFill>
                  <a:srgbClr val="7E99A9"/>
                </a:solidFill>
                <a:latin typeface="Tahoma"/>
              </a:rPr>
              <a:t>مطالعات اجتماعی هفتم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419088"/>
            <a:ext cx="23317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50" b="1" lang="fa-IR">
                <a:solidFill>
                  <a:srgbClr val="45A2E0"/>
                </a:solidFill>
                <a:latin typeface="Tahoma"/>
              </a:rPr>
              <a:t>ارائه: محمدرضا فولادی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391656"/>
            <a:ext cx="74980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45A2E0"/>
                </a:solidFill>
                <a:latin typeface="Tahoma"/>
              </a:rPr>
              <a:t>۱۷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254496"/>
            <a:ext cx="10936224" cy="16459"/>
          </a:xfrm>
          <a:prstGeom prst="rect">
            <a:avLst/>
          </a:prstGeom>
          <a:solidFill>
            <a:srgbClr val="2D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21792" y="6236208"/>
            <a:ext cx="10328656" cy="41148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572768"/>
            <a:ext cx="59436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200" b="1" lang="fa-IR">
                <a:solidFill>
                  <a:srgbClr val="F1B73E"/>
                </a:solidFill>
                <a:latin typeface="Tahoma"/>
              </a:rPr>
              <a:t>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572768"/>
            <a:ext cx="841248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7FAFC"/>
                </a:solidFill>
                <a:latin typeface="Tahoma"/>
              </a:rPr>
              <a:t>قانون از حق‌ها محافظت می‌کند.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2212848"/>
            <a:ext cx="7223760" cy="16459"/>
          </a:xfrm>
          <a:prstGeom prst="rect">
            <a:avLst/>
          </a:prstGeom>
          <a:solidFill>
            <a:srgbClr val="F1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834639"/>
            <a:ext cx="59436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200" b="1" lang="fa-IR">
                <a:solidFill>
                  <a:srgbClr val="45A2E0"/>
                </a:solidFill>
                <a:latin typeface="Tahoma"/>
              </a:rPr>
              <a:t>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834639"/>
            <a:ext cx="841248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7FAFC"/>
                </a:solidFill>
                <a:latin typeface="Tahoma"/>
              </a:rPr>
              <a:t>آزادی با مسئولیت کامل می‌شود.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3474720"/>
            <a:ext cx="7223760" cy="16459"/>
          </a:xfrm>
          <a:prstGeom prst="rect">
            <a:avLst/>
          </a:prstGeom>
          <a:solidFill>
            <a:srgbClr val="45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096511"/>
            <a:ext cx="59436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200" b="1" lang="fa-IR">
                <a:solidFill>
                  <a:srgbClr val="50CDD7"/>
                </a:solidFill>
                <a:latin typeface="Tahoma"/>
              </a:rPr>
              <a:t>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096511"/>
            <a:ext cx="841248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7FAFC"/>
                </a:solidFill>
                <a:latin typeface="Tahoma"/>
              </a:rPr>
              <a:t>حق و تکلیف از هم جدا نیستند.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4736592"/>
            <a:ext cx="7223760" cy="16459"/>
          </a:xfrm>
          <a:prstGeom prst="rect">
            <a:avLst/>
          </a:prstGeom>
          <a:solidFill>
            <a:srgbClr val="50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l"/>
  </p:transition>
</p:sld>
</file>

<file path=ppt/slides/slide1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2" name="!!Scene" descr="justice_left.jp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sp>
        <ns0:nvSpPr>
          <ns0:cNvPr id="3" name="!!Rail"/>
          <ns0:cNvSpPr/>
          <ns0:nvPr/>
        </ns0:nvSpPr>
        <ns0:spPr>
          <ns1:xfrm>
            <ns1:off x="640080" y="530352"/>
            <ns1:ext cx="41148" cy="5413248"/>
          </ns1:xfrm>
          <ns1:prstGeom prst="rect">
            <ns1:avLst/>
          </ns1:prstGeom>
          <ns1:solidFill>
            <ns1:srgbClr val="F1B73E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4" name="Picture 3" descr="pulse.gif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5166360" y="5074920"/>
            <ns1:ext cx="658368" cy="658368"/>
          </ns1:xfrm>
          <ns1:prstGeom prst="rect">
            <ns1:avLst/>
          </ns1:prstGeom>
        </ns0:spPr>
      </ns0:pic>
      <ns0:sp>
        <ns0:nvSpPr>
          <ns0:cNvPr id="5" name="TextBox 4"/>
          <ns0:cNvSpPr txBox="1"/>
          <ns0:nvPr/>
        </ns0:nvSpPr>
        <ns0:spPr>
          <ns1:xfrm>
            <ns1:off x="914400" y="658368"/>
            <ns1:ext cx="4389120" cy="228600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1050" b="1" lang="fa-IR">
                <ns1:solidFill>
                  <ns1:srgbClr val="F1B73E"/>
                </ns1:solidFill>
                <ns1:latin typeface="Tahoma"/>
              </ns1:rPr>
              <ns1:t>پیام پایانی</ns1:t>
            </ns1:r>
          </ns1:p>
        </ns0:txBody>
      </ns0:sp>
      <ns0:sp>
        <ns0:nvSpPr>
          <ns0:cNvPr id="6" name="!!Hero"/>
          <ns0:cNvSpPr txBox="1"/>
          <ns0:nvPr/>
        </ns0:nvSpPr>
        <ns0:spPr>
          <ns1:xfrm>
            <ns1:off x="896112" y="1371600"/>
            <ns1:ext cx="5394960" cy="1389888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3100" b="1" lang="fa-IR">
                <ns1:solidFill>
                  <ns1:srgbClr val="F7FAFC"/>
                </ns1:solidFill>
                <ns1:latin typeface="Tahoma"/>
              </ns1:rPr>
              <ns1:t>قانون یعنی</ns1:t>
            </ns1:r>
            <ns1:br/>
            <ns1:r>
              <ns1:rPr sz="3100" b="1" lang="fa-IR">
                <ns1:solidFill>
                  <ns1:srgbClr val="F7FAFC"/>
                </ns1:solidFill>
                <ns1:latin typeface="Tahoma"/>
              </ns1:rPr>
              <ns1:t>احترام به حق خود و دیگران.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14400" y="3337560"/>
            <ns1:ext cx="4800600" cy="640080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1650" b="0" lang="fa-IR">
                <ns1:solidFill>
                  <ns1:srgbClr val="C9E5F1"/>
                </ns1:solidFill>
                <ns1:latin typeface="Tahoma"/>
              </ns1:rPr>
              <ns1:t>جامعهٔ بهتر، از انتخاب مسئولانهٔ ما آغاز می‌شود.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14400" y="4617720"/>
            <ns1:ext cx="4389120" cy="34747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1800" b="1" lang="fa-IR">
                <ns1:solidFill>
                  <ns1:srgbClr val="F1B73E"/>
                </ns1:solidFill>
                <ns1:latin typeface="Tahoma"/>
              </ns1:rPr>
              <ns1:t>سپاس از توجه شما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621792" y="6446520"/>
            <ns1:ext cx="2743200" cy="201168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850" b="0" lang="fa-IR">
                <ns1:solidFill>
                  <ns1:srgbClr val="7E99A9"/>
                </ns1:solidFill>
                <ns1:latin typeface="Tahoma"/>
              </ns1:rPr>
              <ns1:t>مطالعات اجتماعی هفتم • درس ۳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7909560" y="6419088"/>
            <ns1:ext cx="2331720" cy="201168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r" rtl="1">
              <ns1:lnSpc>
                <ns1:spcPct val="105000"/>
              </ns1:lnSpc>
            </ns1:pPr>
            <ns1:r>
              <ns1:rPr sz="850" b="1" lang="fa-IR">
                <ns1:solidFill>
                  <ns1:srgbClr val="45A2E0"/>
                </ns1:solidFill>
                <ns1:latin typeface="Tahoma"/>
              </ns1:rPr>
              <ns1:t>ارائه: امین کریم‌پور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10808208" y="6391656"/>
            <ns1:ext cx="749808" cy="256032"/>
          </ns1:xfrm>
          <ns1:prstGeom prst="rect">
            <ns1:avLst/>
          </ns1:prstGeom>
          <ns1:noFill/>
        </ns0:spPr>
        <ns0:txBody>
          <ns1:bodyPr wrap="square" anchor="ctr" lIns="36576" rIns="36576" tIns="18288" bIns="18288">
            <ns1:spAutoFit/>
          </ns1:bodyPr>
          <ns1:lstStyle/>
          <ns1:p>
            <ns1:pPr algn="ctr" rtl="1">
              <ns1:lnSpc>
                <ns1:spcPct val="105000"/>
              </ns1:lnSpc>
            </ns1:pPr>
            <ns1:r>
              <ns1:rPr sz="1000" b="1" lang="fa-IR">
                <ns1:solidFill>
                  <ns1:srgbClr val="45A2E0"/>
                </ns1:solidFill>
                <ns1:latin typeface="Tahoma"/>
              </ns1:rPr>
              <ns1:t>۱۸ / ۱۸</ns1:t>
            </ns1:r>
          </ns1:p>
        </ns0:txBody>
      </ns0:sp>
      <ns0:sp>
        <ns0:nvSpPr>
          <ns0:cNvPr id="12" name="Rectangle 11"/>
          <ns0:cNvSpPr/>
          <ns0:nvPr/>
        </ns0:nvSpPr>
        <ns0:spPr>
          <ns1:xfrm>
            <ns1:off x="621792" y="6254496"/>
            <ns1:ext cx="10936224" cy="16459"/>
          </ns1:xfrm>
          <ns1:prstGeom prst="rect">
            <ns1:avLst/>
          </ns1:prstGeom>
          <ns1:solidFill>
            <ns1:srgbClr val="2D435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!!Progress"/>
          <ns0:cNvSpPr/>
          <ns0:nvPr/>
        </ns0:nvSpPr>
        <ns0:spPr>
          <ns1:xfrm>
            <ns1:off x="621792" y="6236208"/>
            <ns1:ext cx="10936224" cy="41148"/>
          </ns1:xfrm>
          <ns1:prstGeom prst="rect">
            <ns1:avLst/>
          </ns1:prstGeom>
          <ns1:solidFill>
            <ns1:srgbClr val="45A2E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med" advClick="1">
    <ns0:fade/>
    <ns0:sndAc>
      <ns0:stSnd>
        <ns0:snd ns2:embed="rIdSfx1" name="chime"/>
      </ns0:stSnd>
    </ns0:sndAc>
  </ns0:transition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چرا به قانون نیاز داریم؟ — نسخه نهایی ۱۸ اسلایدی</dc:title>
  <dc:subject>ارائه ده دقیقه‌ای کلاس هفتم؛ مدرن، تمیز، دستی و سبک</dc:subject>
  <dc:creator>گروه ۶ کلاس ۷/۳</dc:creator>
  <cp:keywords/>
  <dc:description>بدون پیشروی خودکار؛ دارای GIF کوچک و صدای کوتاه در نقاط فصل‌بندی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