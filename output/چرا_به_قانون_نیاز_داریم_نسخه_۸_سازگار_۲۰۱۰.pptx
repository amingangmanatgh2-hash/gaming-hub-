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66928"/>
            <a:ext cx="41148" cy="53949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5212080" cy="2560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5B942"/>
                </a:solidFill>
                <a:latin typeface="Tahoma"/>
              </a:rPr>
              <a:t>درس ۳ • مطالعات اجتماعی پایه هفتم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353312"/>
            <a:ext cx="5303520" cy="1298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700" b="1" lang="fa-IR">
                <a:solidFill>
                  <a:srgbClr val="F6FAFC"/>
                </a:solidFill>
                <a:latin typeface="Tahoma"/>
              </a:rPr>
              <a:t>چرا به قانون</a:t>
            </a:r>
            <a:br/>
            <a:r>
              <a:rPr sz="3700" b="1" lang="fa-IR">
                <a:solidFill>
                  <a:srgbClr val="F6FAFC"/>
                </a:solidFill>
                <a:latin typeface="Tahoma"/>
              </a:rPr>
              <a:t>نیاز داریم؟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4892040" cy="5943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0" lang="fa-IR">
                <a:solidFill>
                  <a:srgbClr val="C6E7F5"/>
                </a:solidFill>
                <a:latin typeface="Tahoma"/>
              </a:rPr>
              <a:t>مسیرِ نظم، امنیت و عدالت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67328"/>
            <a:ext cx="4251960" cy="18288"/>
          </a:xfrm>
          <a:prstGeom prst="rect">
            <a:avLst/>
          </a:prstGeom>
          <a:solidFill>
            <a:srgbClr val="56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709160" cy="5943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50" b="0" lang="fa-IR">
                <a:solidFill>
                  <a:srgbClr val="F6FAFC"/>
                </a:solidFill>
                <a:latin typeface="Tahoma"/>
              </a:rPr>
              <a:t>گروه ۶ • کلاس ۷/۳</a:t>
            </a:r>
            <a:br/>
            <a:r>
              <a:rPr sz="1150" b="0" lang="fa-IR">
                <a:solidFill>
                  <a:srgbClr val="F6FAFC"/>
                </a:solidFill>
                <a:latin typeface="Tahoma"/>
              </a:rPr>
              <a:t>امین کریم‌پور · عزیزی · طاها عابدی‌فر · گله‌دار · محمدرضا فولادی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۰۱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03504" y="6272784"/>
            <a:ext cx="6096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فهرست مسیر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در این ارائه چه می‌خوانیم؟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728216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683496" y="2450592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B942"/>
                </a:solidFill>
                <a:latin typeface="Tahoma"/>
              </a:rPr>
              <a:t>۰۲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۰۲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12192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enuSpine"/>
          <p:cNvSpPr/>
          <p:nvPr/>
        </p:nvSpPr>
        <p:spPr>
          <a:xfrm>
            <a:off x="1069848" y="1481328"/>
            <a:ext cx="22860" cy="41605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417320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1874519"/>
            <a:ext cx="7955279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408176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آغاز و مسئله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463040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 تا 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2258568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4DD2AC"/>
                </a:solidFill>
                <a:latin typeface="Tahoma"/>
              </a:rPr>
              <a:t>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5376" y="2715768"/>
            <a:ext cx="7754111" cy="16459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8528" y="2249424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چرا به قانون نیاز داریم؟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304288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۴ تا 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099816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6759"/>
                </a:solidFill>
                <a:latin typeface="Tahoma"/>
              </a:rPr>
              <a:t>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76272" y="3557016"/>
            <a:ext cx="7552944" cy="16459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9424" y="3090672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قانون در زندگی روزمره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145536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۱۰ تا ۱۳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3941064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B287F5"/>
                </a:solidFill>
                <a:latin typeface="Tahoma"/>
              </a:rPr>
              <a:t>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4398264"/>
            <a:ext cx="7351775" cy="16459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3931920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حق، تکلیف و چارچوب کشور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986784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۱۴ تا ۱۶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2" y="4782312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B942"/>
                </a:solidFill>
                <a:latin typeface="Tahoma"/>
              </a:rPr>
              <a:t>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98064" y="5239512"/>
            <a:ext cx="7150607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71216" y="4773168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مرور و جمع‌بندی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828032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۱۷ و ۱۸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school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زندگی اجتماعی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هر ارتباط، یک حق و یک مسئولیت می‌سازد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325880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64592" y="2761488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B942"/>
                </a:solidFill>
                <a:latin typeface="Tahoma"/>
              </a:rPr>
              <a:t>۰۳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۰۳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18288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371600"/>
            <a:ext cx="529437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399032"/>
            <a:ext cx="523951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535156" y="155448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17352" y="144475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4480559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حقِ من ↔ مسئولیتِ من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258568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32304"/>
            <a:ext cx="489204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در خانواده، مدرسه و محله از امکانات و احترام برخورداریم؛ در مقابل باید حق دیگران را رعایت کنیم.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416052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4215383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4DD2AC"/>
                </a:solidFill>
                <a:latin typeface="Tahoma"/>
              </a:rPr>
              <a:t>۰۱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4315968"/>
            <a:ext cx="16459" cy="31089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7536" y="4251959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حق آموزش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80060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7" y="4855464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B942"/>
                </a:solidFill>
                <a:latin typeface="Tahoma"/>
              </a:rPr>
              <a:t>۰۲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2912" y="4956048"/>
            <a:ext cx="16459" cy="31089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4892040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تکلیف رعایت نظم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اصل طلایی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مرز آزادی من، حق دیگران است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527048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1828800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۰۴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24384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822960" y="4480560"/>
            <a:ext cx="10607040" cy="11430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6400" b="1" lang="fa-IR">
                <a:solidFill>
                  <a:srgbClr val="1E2D37"/>
                </a:solidFill>
                <a:latin typeface="Tahoma"/>
              </a:rPr>
              <a:t>آزادی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389888"/>
            <a:ext cx="10881360" cy="111556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1417320"/>
            <a:ext cx="1082649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89436" y="1572768"/>
            <a:ext cx="32004" cy="74980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572768"/>
            <a:ext cx="105613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700" b="1" lang="fa-IR">
                <a:solidFill>
                  <a:srgbClr val="F5B942"/>
                </a:solidFill>
                <a:latin typeface="Tahoma"/>
              </a:rPr>
              <a:t>«آزادی بدون مسئولیت، به بی‌نظمی تبدیل می‌شود.»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788920"/>
            <a:ext cx="8503920" cy="18288"/>
          </a:xfrm>
          <a:prstGeom prst="rect">
            <a:avLst/>
          </a:prstGeom>
          <a:solidFill>
            <a:srgbClr val="40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DD2AC"/>
                </a:solidFill>
                <a:latin typeface="Tahoma"/>
              </a:rPr>
              <a:t>حق من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انتخاب و استفاده از امکانات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مرز مشترک رفتار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6759"/>
                </a:solidFill>
                <a:latin typeface="Tahoma"/>
              </a:rPr>
              <a:t>حق دیگران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7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آرامش، امنیت و دارایی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تفکیک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مقررات و قانون؛ تفاوت در گستره و اجرا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728216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683496" y="2139696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۰۵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30480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1417320"/>
            <a:ext cx="13716" cy="431596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1389888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1417320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01284" y="157276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46304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1572768"/>
            <a:ext cx="42976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مقررات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2276856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450591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برای محیط محدود؛ مثل خانه، کلاس و اردو. معمولاً با توافق گروه یا مدیریت همان محیط اجرا می‌شود.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1389888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9944" y="1417320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43716" y="157276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25912" y="146304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72768"/>
            <a:ext cx="42976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276856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450591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قاعده‌ای رسمی و لازم‌الاجرا برای جامعه؛ با نظارت نهادهای رسمی و دادگاه.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هستهٔ درس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چهار دلیل اصلی نیاز به قانون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325880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64592" y="2450592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۰۶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36576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6208" y="1353312"/>
            <a:ext cx="5074920" cy="422452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380744"/>
            <a:ext cx="502005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260836" y="1536192"/>
            <a:ext cx="32004" cy="385876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920" y="1554480"/>
            <a:ext cx="132588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72" y="1581912"/>
            <a:ext cx="117957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چهار ستون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50876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150876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حفظ حقوق افراد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07568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46888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46888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برقراری نظم و امنیت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303580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42900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342900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رشد مسئولیت‌پذیری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99592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38912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438912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حل عادلانهٔ اختلاف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42048" y="495604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دلیل اول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قانون، سپر افراد در برابر زورگویی است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527048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2761488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۰۷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42672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6537960" y="4160520"/>
            <a:ext cx="4754880" cy="10515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5800" b="1" lang="fa-IR">
                <a:solidFill>
                  <a:srgbClr val="303B3F"/>
                </a:solidFill>
                <a:latin typeface="Tahoma"/>
              </a:rPr>
              <a:t>حــق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1417320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" y="1444752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4708" y="160020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9047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1600200"/>
            <a:ext cx="42976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قدرت، جای حق را نمی‌گیرد.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2304288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478024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به همه—حتی افراد ضعیف‌تر—امکان دفاع، شکایت و رسیدگی عادلانه می‌دهد.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traffic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دلیل دوم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چراغ قرمز؛ قرارداد حفظ جان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728216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530352" y="1828800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۰۸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48768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502920" y="4370832"/>
            <a:ext cx="5212080" cy="10058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5700" b="1" lang="fa-IR">
                <a:solidFill>
                  <a:srgbClr val="233035"/>
                </a:solidFill>
                <a:latin typeface="Tahoma"/>
              </a:rPr>
              <a:t>جــان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389888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1417320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43716" y="1572768"/>
            <a:ext cx="32004" cy="1755648"/>
          </a:xfrm>
          <a:prstGeom prst="round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25912" y="146304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6759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572768"/>
            <a:ext cx="43891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6759"/>
                </a:solidFill>
                <a:latin typeface="Tahoma"/>
              </a:rPr>
              <a:t>چند ثانیه عجله، چند حق از دست‌رفته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276856"/>
            <a:ext cx="1078992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450591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عبور غیرمجاز فقط راننده را درگیر نمی‌کند؛ جان، زمان و آرامش دیگران هم تهدید می‌شود.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416052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4215383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6759"/>
                </a:solidFill>
                <a:latin typeface="Tahoma"/>
              </a:rPr>
              <a:t>جان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4315968"/>
            <a:ext cx="16459" cy="31089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4251959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امنیت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4736592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4791455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B942"/>
                </a:solidFill>
                <a:latin typeface="Tahoma"/>
              </a:rPr>
              <a:t>زمان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11512" y="4892040"/>
            <a:ext cx="16459" cy="31089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5248" y="4828031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نظم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دلیل سوم و چهارم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مسئولیت‌پذیری و حل اختلاف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325880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0012680" y="2139696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۰۹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54864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325880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1353312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47004" y="150876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399031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508760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مسئولیت‌پذیری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2212848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386584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به ما یاد می‌دهد پیامد رفتار خود را ببینیم و حتی بدون نظارت، انتخاب درست داشته باشیم.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1325880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1353312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71148" y="150876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53344" y="1399031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1508760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حل اختلاف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5392" y="2212848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386584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دادگاه، دلیل و قانون را جایگزین دعوا، زور و انتقام می‌کند.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ity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6759"/>
                </a:solidFill>
                <a:latin typeface="Tahoma"/>
              </a:rPr>
              <a:t>قانون در شهر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مال عمومی، مال همه است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527048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2450592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6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6759"/>
                </a:solidFill>
                <a:latin typeface="Tahoma"/>
              </a:rPr>
              <a:t>۱۰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۱۰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6096000" cy="3657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371600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" y="1399032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56148" y="155448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8344" y="144475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1554480"/>
            <a:ext cx="43891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پارک • اتوبوس • کتابخانه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2258568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432304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پاکیزگی، مراقبت از تجهیزات و امانت‌داری باعث می‌شود امکانات برای همه و نسل بعد باقی بماند.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6759"/>
                </a:solidFill>
                <a:latin typeface="Tahoma"/>
              </a:rPr>
              <a:t>کارگاه صفحهٔ ۱۵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اردو؛ قانون خوب باید قابل اجرا باشد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728216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530352" y="2761488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6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6759"/>
                </a:solidFill>
                <a:latin typeface="Tahoma"/>
              </a:rPr>
              <a:t>۱۱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۱۱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6705600" cy="3657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1371600"/>
            <a:ext cx="5175504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0216" y="1399032"/>
            <a:ext cx="5120640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397996" y="155448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144475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554480"/>
            <a:ext cx="4361688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سه معیار ساده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2" y="2258568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432304"/>
            <a:ext cx="4773168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خوب باید روشن، عادلانه و قابل اجرا باشد؛ نه فقط سخت‌گیرانه.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6759"/>
                </a:solidFill>
                <a:latin typeface="Tahoma"/>
              </a:rPr>
              <a:t>مقررات اردو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پنج موقعیت، پنج تصمیم روشن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325880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64592" y="1828800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6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6759"/>
                </a:solidFill>
                <a:latin typeface="Tahoma"/>
              </a:rPr>
              <a:t>۱۲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۱۲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7315200" cy="3657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1261872"/>
            <a:ext cx="5138928" cy="4526280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7064" y="1289304"/>
            <a:ext cx="5084064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288268" y="1444751"/>
            <a:ext cx="32004" cy="4160520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57232" y="1444752"/>
            <a:ext cx="11430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0384" y="1472184"/>
            <a:ext cx="9966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چک‌لیست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325880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وسایل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325880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جای مشخص و تحویل سالم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1837943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167128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استراحت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167128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خاموشی و سکوت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679192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08376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آتش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008376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محل مجاز و حضور مسئول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520440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849624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غذا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849624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صف و سهم برابر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361688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690872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گروه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690872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نقش روشن و همکاری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5202936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6759"/>
                </a:solidFill>
                <a:latin typeface="Tahoma"/>
              </a:rPr>
              <a:t>قانون و اخلاق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حداقلِ لازم؛ بهترینِ ممکن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527048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2139696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6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6759"/>
                </a:solidFill>
                <a:latin typeface="Tahoma"/>
              </a:rPr>
              <a:t>۱۳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۱۳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7924799" cy="3657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29844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132588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47004" y="148132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37160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481328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2185416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35915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رفتار لازم و الزام‌آور؛ مثل ایست پشت چراغ قرمز.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129844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132588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71148" y="148132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53344" y="137160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1481328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اخلاق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5392" y="2185416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35915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رفتار انسانی و برتر؛ مثل کمک داوطلبانه به فرد نابینا.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892040"/>
            <a:ext cx="7360920" cy="40233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جامعهٔ خوب، هم قانون‌مدار است و هم اخلاق‌مدار.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onstitution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B287F5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B287F5"/>
                </a:solidFill>
                <a:latin typeface="Tahoma"/>
              </a:rPr>
              <a:t>دانستنی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قانون اساسی؛ مادر قوانین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728216" cy="25603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683496" y="2450592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B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B287F5"/>
                </a:solidFill>
                <a:latin typeface="Tahoma"/>
              </a:rPr>
              <a:t>۱۴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۱۴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8534400" cy="36576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6565392" y="4315968"/>
            <a:ext cx="4663440" cy="10058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5000" b="1" lang="fa-IR">
                <a:solidFill>
                  <a:srgbClr val="2D2D3E"/>
                </a:solidFill>
                <a:latin typeface="Tahoma"/>
              </a:rPr>
              <a:t>چارچوب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1298448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" y="1325880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56148" y="148132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8344" y="137160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43891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چارچوب اصلی کشور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2185416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359152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اساسی حقوق عمومی و ساختار نهادها را مشخص می‌کند. قوانین دیگر نباید با آن مغایر باشند.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448056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4DD2AC"/>
                </a:solidFill>
                <a:latin typeface="Tahoma"/>
              </a:rPr>
              <a:t>همه‌پرسی: ۱۲ آذر ۱۳۵۸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B287F5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B287F5"/>
                </a:solidFill>
                <a:latin typeface="Tahoma"/>
              </a:rPr>
              <a:t>تعادل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حق و تکلیف؛ دو کفهٔ یک ترازو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325880" cy="25603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64592" y="2761488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B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B287F5"/>
                </a:solidFill>
                <a:latin typeface="Tahoma"/>
              </a:rPr>
              <a:t>۱۵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۱۵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9144000" cy="36576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502920" y="4343400"/>
            <a:ext cx="5166360" cy="10058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5200" b="1" lang="fa-IR">
                <a:solidFill>
                  <a:srgbClr val="262F38"/>
                </a:solidFill>
                <a:latin typeface="Tahoma"/>
              </a:rPr>
              <a:t>تعادل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20700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123444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97996" y="138988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128016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389888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حق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093976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6771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آموزش، امنیت، احترام و استفاده از امکانات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090672"/>
            <a:ext cx="4206240" cy="18288"/>
          </a:xfrm>
          <a:prstGeom prst="rect">
            <a:avLst/>
          </a:prstGeom>
          <a:solidFill>
            <a:srgbClr val="4E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91072" y="3154679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8504" y="3182111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397996" y="3337560"/>
            <a:ext cx="32004" cy="1755648"/>
          </a:xfrm>
          <a:prstGeom prst="round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0192" y="322783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6759"/>
                </a:solidFill>
                <a:latin typeface="Tahoma"/>
              </a:rPr>
              <a:t>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37560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6759"/>
                </a:solidFill>
                <a:latin typeface="Tahoma"/>
              </a:rPr>
              <a:t>تکلیف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041648"/>
            <a:ext cx="1078992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215383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رعایت نظم، حفظ اموال و احترام به دیگران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B287F5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B287F5"/>
                </a:solidFill>
                <a:latin typeface="Tahoma"/>
              </a:rPr>
              <a:t>تصمیم مسئولانه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پیش از عمل، سه سؤال بپرس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527048" cy="25603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1828800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B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B287F5"/>
                </a:solidFill>
                <a:latin typeface="Tahoma"/>
              </a:rPr>
              <a:t>۱۶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۱۶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9753600" cy="36576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1328" y="1353312"/>
            <a:ext cx="9235440" cy="4069080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08760" y="1380744"/>
            <a:ext cx="918057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66476" y="1536192"/>
            <a:ext cx="32004" cy="3703320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1554480"/>
            <a:ext cx="1353312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581912"/>
            <a:ext cx="1207008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مکث کن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155448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155448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آیا کسی آسیب می‌بیند؟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19456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278892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78892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اگر همه انجام دهند چه می‌شود؟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42900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02336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02336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آیا پیامدش را می‌پذیرم؟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466344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مرور سریع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سه نکته‌ای که باید بماند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728216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683496" y="2139696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B942"/>
                </a:solidFill>
                <a:latin typeface="Tahoma"/>
              </a:rPr>
              <a:t>۱۷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۱۷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103632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1335024"/>
            <a:ext cx="10195560" cy="400507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4984" y="1362456"/>
            <a:ext cx="1014069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32820" y="1517904"/>
            <a:ext cx="32004" cy="3639312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1536192"/>
            <a:ext cx="13716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1563624"/>
            <a:ext cx="12252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خلاصهٔ درس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1508760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1508760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قانون از حق‌ها محافظت می‌کند.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770632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DD2AC"/>
                </a:solidFill>
                <a:latin typeface="Tahoma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770632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آزادی با مسئولیت کامل می‌شود.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32504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6759"/>
                </a:solidFill>
                <a:latin typeface="Tahoma"/>
              </a:rPr>
              <a:t>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032504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حق و تکلیف از هم جدا نیستند.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66928"/>
            <a:ext cx="41148" cy="53949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4206240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5B942"/>
                </a:solidFill>
                <a:latin typeface="Tahoma"/>
              </a:rPr>
              <a:t>جمع‌بندی نهایی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444752"/>
            <a:ext cx="5349240" cy="13898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100" b="1" lang="fa-IR">
                <a:solidFill>
                  <a:srgbClr val="F6FAFC"/>
                </a:solidFill>
                <a:latin typeface="Tahoma"/>
              </a:rPr>
              <a:t>قانون یعنی</a:t>
            </a:r>
            <a:br/>
            <a:r>
              <a:rPr sz="3100" b="1" lang="fa-IR">
                <a:solidFill>
                  <a:srgbClr val="F6FAFC"/>
                </a:solidFill>
                <a:latin typeface="Tahoma"/>
              </a:rPr>
              <a:t>احترام به حقِ خود و دیگران.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4800600" cy="6400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0" lang="fa-IR">
                <a:solidFill>
                  <a:srgbClr val="C6E7F5"/>
                </a:solidFill>
                <a:latin typeface="Tahoma"/>
              </a:rPr>
              <a:t>جامعهٔ بهتر، از انتخاب مسئولانهٔ ما آغاز می‌شود.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438912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سپاس از توجه شما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۱۸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gress"/>
          <p:cNvSpPr/>
          <p:nvPr/>
        </p:nvSpPr>
        <p:spPr>
          <a:xfrm>
            <a:off x="603504" y="6272784"/>
            <a:ext cx="109728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چرا به قانون نیاز داریم؟ — نسخه ۸ تیک‌تاک کنفرانس</dc:title>
  <dc:subject>ارائهٔ هیبرید ادیتوریال، سه‌بعدی و وایرال با حرکت دوربین</dc:subject>
  <dc:creator>گروه ۶ از کلاس ۷/۳</dc:creator>
  <cp:keywords/>
  <dc:description>نسخه ۸: تکنیک‌های منتخب آموزش‌های TikTok و کنفرانس؛ پورتال Morph، زوم فصل‌ها و تایپوگرافی ادیتوریال؛ بدون انیمیشن داخلی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