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jpg" /><ns0:Relationship Id="rId3" Type="http://schemas.openxmlformats.org/officeDocument/2006/relationships/image" Target="../media/image2.png" /><ns0:Relationship Id="rId4" Type="http://schemas.openxmlformats.org/officeDocument/2006/relationships/audio" Target="../media/whoosh.wav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3.jpg" /><ns0:Relationship Id="rId3" Type="http://schemas.openxmlformats.org/officeDocument/2006/relationships/image" Target="../media/image4.png" /><ns0:Relationship Id="rId4" Type="http://schemas.openxmlformats.org/officeDocument/2006/relationships/audio" Target="../media/impact.wav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5.jpg" /><ns0:Relationship Id="rId3" Type="http://schemas.openxmlformats.org/officeDocument/2006/relationships/image" Target="../media/image6.png" /><ns0:Relationship Id="rId4" Type="http://schemas.openxmlformats.org/officeDocument/2006/relationships/audio" Target="../media/shimmer.wav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7.jpg" /><ns0:Relationship Id="rId3" Type="http://schemas.openxmlformats.org/officeDocument/2006/relationships/image" Target="../media/image8.png" /><ns0:Relationship Id="rId4" Type="http://schemas.openxmlformats.org/officeDocument/2006/relationships/audio" Target="../media/whoosh.wav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9.jpg" /><ns0:Relationship Id="rId3" Type="http://schemas.openxmlformats.org/officeDocument/2006/relationships/image" Target="../media/image2.png" /><ns0:Relationship Id="rId4" Type="http://schemas.openxmlformats.org/officeDocument/2006/relationships/audio" Target="../media/impact.wav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0.jpg" /><ns0:Relationship Id="rId3" Type="http://schemas.openxmlformats.org/officeDocument/2006/relationships/audio" Target="../media/shimmer.wav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1.jpg" /><ns0:Relationship Id="rId3" Type="http://schemas.openxmlformats.org/officeDocument/2006/relationships/image" Target="../media/image12.png" /><ns0:Relationship Id="rId4" Type="http://schemas.openxmlformats.org/officeDocument/2006/relationships/audio" Target="../media/whoosh.wav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3.jpg" /><ns0:Relationship Id="rId3" Type="http://schemas.openxmlformats.org/officeDocument/2006/relationships/image" Target="../media/image14.png" /><ns0:Relationship Id="rId4" Type="http://schemas.openxmlformats.org/officeDocument/2006/relationships/audio" Target="../media/impact.wav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5.jpg" /><ns0:Relationship Id="rId3" Type="http://schemas.openxmlformats.org/officeDocument/2006/relationships/audio" Target="../media/shimmer.wav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6.jpg" /><ns0:Relationship Id="rId3" Type="http://schemas.openxmlformats.org/officeDocument/2006/relationships/image" Target="../media/image17.png" /><ns0:Relationship Id="rId4" Type="http://schemas.openxmlformats.org/officeDocument/2006/relationships/audio" Target="../media/whoosh.wav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8.jpg" /><ns0:Relationship Id="rId3" Type="http://schemas.openxmlformats.org/officeDocument/2006/relationships/audio" Target="../media/impact.wav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9.jpg" /><ns0:Relationship Id="rId3" Type="http://schemas.openxmlformats.org/officeDocument/2006/relationships/image" Target="../media/image20.png" /><ns0:Relationship Id="rId4" Type="http://schemas.openxmlformats.org/officeDocument/2006/relationships/audio" Target="../media/shimmer.wav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1.jpg" /><ns0:Relationship Id="rId3" Type="http://schemas.openxmlformats.org/officeDocument/2006/relationships/image" Target="../media/image22.png" /><ns0:Relationship Id="rId4" Type="http://schemas.openxmlformats.org/officeDocument/2006/relationships/audio" Target="../media/whoosh.wav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3.jpg" /><ns0:Relationship Id="rId3" Type="http://schemas.openxmlformats.org/officeDocument/2006/relationships/image" Target="../media/image2.png" /><ns0:Relationship Id="rId4" Type="http://schemas.openxmlformats.org/officeDocument/2006/relationships/audio" Target="../media/impact.wav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4.jpg" /><ns0:Relationship Id="rId3" Type="http://schemas.openxmlformats.org/officeDocument/2006/relationships/audio" Target="../media/shimmer.wav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5.jpg" /><ns0:Relationship Id="rId3" Type="http://schemas.openxmlformats.org/officeDocument/2006/relationships/audio" Target="../media/whoosh.wav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49377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200" b="1" lang="fa-IR">
                <a:solidFill>
                  <a:srgbClr val="FFC95C"/>
                </a:solidFill>
                <a:latin typeface="Vazirmatn"/>
              </a:rPr>
              <a:t>درس ۳ • مطالعات اجتماعی پایه هفتم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6675120" cy="10972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3400" b="1" lang="fa-IR">
                <a:solidFill>
                  <a:srgbClr val="EFF8FF"/>
                </a:solidFill>
                <a:latin typeface="Vazirmatn"/>
              </a:rPr>
              <a:t>چرا به قانون نیاز داریم؟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29968"/>
            <a:ext cx="576072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900" b="0" lang="fa-IR">
                <a:solidFill>
                  <a:srgbClr val="C8EBFF"/>
                </a:solidFill>
                <a:latin typeface="Vazirmatn"/>
              </a:rPr>
              <a:t>قانون، مسیر رسیدن به نظم، امنیت و احترام به حقوق دیگران است.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80360"/>
            <a:ext cx="5623560" cy="14630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0292" cy="118872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50292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600" b="1" lang="fa-IR">
                <a:solidFill>
                  <a:srgbClr val="FFC95C"/>
                </a:solidFill>
                <a:latin typeface="Vazirmatn"/>
              </a:rPr>
              <a:t>ارائه‌شده توسط گروه ۶ از کلاس ۷/۳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507492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0" lang="fa-IR">
                <a:solidFill>
                  <a:srgbClr val="EFF8FF"/>
                </a:solidFill>
                <a:latin typeface="Vazirmatn"/>
              </a:rPr>
              <a:t>امین کریم‌پور · عزیزی · طاها عابدی‌فر</a:t>
            </a:r>
            <a:br/>
            <a:r>
              <a:rPr sz="1400" b="0" lang="fa-IR">
                <a:solidFill>
                  <a:srgbClr val="EFF8FF"/>
                </a:solidFill>
                <a:latin typeface="Vazirmatn"/>
              </a:rPr>
              <a:t>گله‌دار · محمدرضا فولادی</a:t>
            </a:r>
          </a:p>
        </p:txBody>
      </p:sp>
      <p:pic>
        <p:nvPicPr>
          <p:cNvPr id="10" name="Picture 9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685800"/>
            <a:ext cx="4663440" cy="516636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685800" y="5943600"/>
            <a:ext cx="5303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58E0BC"/>
                </a:solidFill>
                <a:latin typeface="Vazirmatn"/>
              </a:rPr>
              <a:t>یک ارائهٔ سینمایی دربارهٔ مرز حق، مسئولیت و عدالت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۰۱ / ۱۶</a:t>
            </a:r>
          </a:p>
        </p:txBody>
      </p:sp>
    </p:spTree>
  </p:cSld>
  <p:clrMapOvr>
    <a:masterClrMapping/>
  </p:clrMapOvr>
  <p:transition spd="slow" advClick="1" advTm="11000">
    <p:fade/>
    <p:sndAc>
      <p:stSnd>
        <p:snd r:embed="rId4" name="whoosh"/>
      </p:stSnd>
    </p:sndAc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نقشهٔ راه ارائه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از «حق» تا «قانون»؛ مسیر یادگیری ما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۰۲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492240" cy="914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22592" y="1554480"/>
            <a:ext cx="50292" cy="64008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60899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FFC95C"/>
                </a:solidFill>
                <a:latin typeface="Vazirmatn"/>
              </a:rPr>
              <a:t>از حق تا قانون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6089903" cy="292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چرا زندگی اجتماعی، مرز و قاعده می‌خواهد؟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618488"/>
            <a:ext cx="43891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C95C"/>
                </a:solidFill>
                <a:latin typeface="Vazirmatn"/>
              </a:rPr>
              <a:t>۰۱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96312"/>
            <a:ext cx="6492240" cy="914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22592" y="2633472"/>
            <a:ext cx="50292" cy="64008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42616"/>
            <a:ext cx="60899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58E0BC"/>
                </a:solidFill>
                <a:latin typeface="Vazirmatn"/>
              </a:rPr>
              <a:t>مقررات و نظم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6089903" cy="292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تفاوت قواعد گروهی با قانون عمومی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97480"/>
            <a:ext cx="43891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58E0BC"/>
                </a:solidFill>
                <a:latin typeface="Vazirmatn"/>
              </a:rPr>
              <a:t>۰۲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75304"/>
            <a:ext cx="6492240" cy="914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22592" y="3712464"/>
            <a:ext cx="50292" cy="64008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721608"/>
            <a:ext cx="60899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FF7769"/>
                </a:solidFill>
                <a:latin typeface="Vazirmatn"/>
              </a:rPr>
              <a:t>امنیت و عدالت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078224"/>
            <a:ext cx="6089903" cy="292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قانون چگونه از افراد و جامعه محافظت می‌کند؟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776472"/>
            <a:ext cx="43891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7769"/>
                </a:solidFill>
                <a:latin typeface="Vazirmatn"/>
              </a:rPr>
              <a:t>۰۳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54296"/>
            <a:ext cx="6492240" cy="914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22592" y="4791456"/>
            <a:ext cx="50292" cy="640080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800600"/>
            <a:ext cx="60899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C8EBFF"/>
                </a:solidFill>
                <a:latin typeface="Vazirmatn"/>
              </a:rPr>
              <a:t>حق و تکلیف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157216"/>
            <a:ext cx="6089903" cy="292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دو کفهٔ جدانشدنی زندگی شهروندی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855464"/>
            <a:ext cx="43891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C8EBFF"/>
                </a:solidFill>
                <a:latin typeface="Vazirmatn"/>
              </a:rPr>
              <a:t>۰۴</a:t>
            </a:r>
          </a:p>
        </p:txBody>
      </p:sp>
      <p:pic>
        <p:nvPicPr>
          <p:cNvPr id="28" name="Picture 2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34440"/>
            <a:ext cx="4114800" cy="425196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9" name="Rounded Rectangle 28"/>
          <p:cNvSpPr/>
          <p:nvPr/>
        </p:nvSpPr>
        <p:spPr>
          <a:xfrm>
            <a:off x="7635240" y="5321808"/>
            <a:ext cx="3429000" cy="502920"/>
          </a:xfrm>
          <a:prstGeom prst="roundRect">
            <a:avLst/>
          </a:prstGeom>
          <a:solidFill>
            <a:srgbClr val="1D3D50"/>
          </a:solidFill>
          <a:ln w="15240">
            <a:solidFill>
              <a:srgbClr val="FFC95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5422392"/>
            <a:ext cx="3063240" cy="2560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000" b="0" lang="fa-IR">
                <a:solidFill>
                  <a:srgbClr val="C8EBFF"/>
                </a:solidFill>
                <a:latin typeface="Vazirmatn"/>
              </a:rPr>
              <a:t>نمای بازطراحی‌شده از محورهای صفحهٔ ۱۳</a:t>
            </a:r>
          </a:p>
        </p:txBody>
      </p:sp>
    </p:spTree>
  </p:cSld>
  <p:clrMapOvr>
    <a:masterClrMapping/>
  </p:clrMapOvr>
  <p:transition spd="slow" advClick="1" advTm="11000">
    <p:push dir="l"/>
    <p:sndAc>
      <p:stSnd>
        <p:snd r:embed="rId4" name="impact"/>
      </p:stSnd>
    </p:sndAc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مفهوم پایه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ورود به اجتماع و شکل‌گیری حقوق متقابل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۰۳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720840" cy="12344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51192" y="1490472"/>
            <a:ext cx="50292" cy="96012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99616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600" b="1" lang="fa-IR">
                <a:solidFill>
                  <a:srgbClr val="FFC95C"/>
                </a:solidFill>
                <a:latin typeface="Vazirmatn"/>
              </a:rPr>
              <a:t>زندگی اجتماعی از کجا آغاز می‌شود؟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6318503" cy="6126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ما در خانواده، مدرسه و محله با دیگران رابطه داریم. همین رابطه‌ها سبب می‌شود هر فرد در برابر دیگری «حق» داشته باشد و هم‌زمان مسئول رعایت حق او باشد.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70632"/>
            <a:ext cx="6720840" cy="141732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51192" y="2907791"/>
            <a:ext cx="50292" cy="114300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916936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600" b="1" lang="fa-IR">
                <a:solidFill>
                  <a:srgbClr val="FF7769"/>
                </a:solidFill>
                <a:latin typeface="Vazirmatn"/>
              </a:rPr>
              <a:t>اصل طلایی مرز حق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273552"/>
            <a:ext cx="6318503" cy="7955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هیچ‌کس در استفاده از حق خود آزادی مطلق و بی‌قیدوشرط ندارد. مرز حق من، جایی است که قانون و حق دیگران آغاز می‌شود؛ پس حق، بدون مسئولیت کامل نیست.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70832"/>
            <a:ext cx="6720840" cy="12344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51192" y="4507992"/>
            <a:ext cx="50292" cy="96012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517136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58E0BC"/>
                </a:solidFill>
                <a:latin typeface="Vazirmatn"/>
              </a:rPr>
              <a:t>مثال کاربردی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873752"/>
            <a:ext cx="6318503" cy="6126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200" b="0" lang="fa-IR">
                <a:solidFill>
                  <a:srgbClr val="C8EBFF"/>
                </a:solidFill>
                <a:latin typeface="Vazirmatn"/>
              </a:rPr>
              <a:t>دانش‌آموز حق استفاده از حیاط مدرسه را دارد؛ اما نمی‌تواند با بازی خطرناک، امنیت دیگران را تهدید کند. حق بازی + تکلیف مراقبت از دیگران = همزیستی سالم.</a:t>
            </a:r>
          </a:p>
        </p:txBody>
      </p:sp>
      <p:pic>
        <p:nvPicPr>
          <p:cNvPr id="20" name="Picture 19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80160"/>
            <a:ext cx="4206240" cy="448056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1" name="TextBox 20"/>
          <p:cNvSpPr txBox="1"/>
          <p:nvPr/>
        </p:nvSpPr>
        <p:spPr>
          <a:xfrm>
            <a:off x="7818120" y="5532120"/>
            <a:ext cx="324612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100" b="1" lang="fa-IR">
                <a:solidFill>
                  <a:srgbClr val="FFC95C"/>
                </a:solidFill>
                <a:latin typeface="Vazirmatn"/>
              </a:rPr>
              <a:t>ارتباط بیشتر ← حقوق و مسئولیت‌های بیشتر</a:t>
            </a:r>
          </a:p>
        </p:txBody>
      </p:sp>
    </p:spTree>
  </p:cSld>
  <p:clrMapOvr>
    <a:masterClrMapping/>
  </p:clrMapOvr>
  <p:transition spd="slow" advClick="1" advTm="11000">
    <p:wipe dir="l"/>
    <p:sndAc>
      <p:stSnd>
        <p:snd r:embed="rId4" name="shimmer"/>
      </p:stSnd>
    </p:sndAc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تفکیک مفهومی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مقررات یا قانون؟ شبیه‌اند، اما یکسان نیستند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۰۴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983480" cy="30632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13832" y="1554480"/>
            <a:ext cx="50292" cy="278892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45811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900" b="1" lang="fa-IR">
                <a:solidFill>
                  <a:srgbClr val="58E0BC"/>
                </a:solidFill>
                <a:latin typeface="Vazirmatn"/>
              </a:rPr>
              <a:t>مقررات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4581144" cy="24414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• قواعدی برای ادارهٔ یک گروه یا محیط محدود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می‌تواند در خانه، کلاس، مدرسه یا اردو وضع شود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نمونه: ساعت خاموشی اردو، نوبت نظافت کلاس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ضمانت اجرا معمولاً در همان گروه تعریف می‌شود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نتیجه: مقررات، نظمِ نزدیک و روزمره را می‌سازد.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417320"/>
            <a:ext cx="4983480" cy="30632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88752" y="1554480"/>
            <a:ext cx="50292" cy="278892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563624"/>
            <a:ext cx="45811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900" b="1" lang="fa-IR">
                <a:solidFill>
                  <a:srgbClr val="FFC95C"/>
                </a:solidFill>
                <a:latin typeface="Vazirmatn"/>
              </a:rPr>
              <a:t>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920240"/>
            <a:ext cx="4581144" cy="24414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• قاعده‌ای رسمی، عمومی و لازم‌الاجرا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به‌وسیلهٔ مرجع قانون‌گذاری تصویب می‌شود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برای همهٔ افراد جامعه اعتبار دارد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• دادگاه و نهادهای رسمی بر اجرای آن نظارت می‌کنند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نتیجه: قانون، نظم و عدالت عمومی را تضمین می‌کند.</a:t>
            </a:r>
          </a:p>
        </p:txBody>
      </p:sp>
      <p:pic>
        <p:nvPicPr>
          <p:cNvPr id="16" name="Picture 15" descr="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434840"/>
            <a:ext cx="3886200" cy="182880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777240" y="5010912"/>
            <a:ext cx="3291840" cy="51206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C8EBFF"/>
                </a:solidFill>
                <a:latin typeface="Vazirmatn"/>
              </a:rPr>
              <a:t>وجه مشترک: هر دو برای پیشگیری از آشفتگی و رعایت حقوق دیگران‌اند.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10912"/>
            <a:ext cx="2743200" cy="51206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تفاوت اصلی: گستره، مرجع تصویب و ضمانت اجرا</a:t>
            </a:r>
          </a:p>
        </p:txBody>
      </p:sp>
    </p:spTree>
  </p:cSld>
  <p:clrMapOvr>
    <a:masterClrMapping/>
  </p:clrMapOvr>
  <p:transition spd="slow" advClick="1" advTm="11000">
    <p:fade/>
    <p:sndAc>
      <p:stSnd>
        <p:snd r:embed="rId4" name="whoosh"/>
      </p:stSnd>
    </p:sndAc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هستهٔ درس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چهار دلیل اصلی نیاز جامعه به قانون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۰۵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822191" cy="171907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2544" y="1527048"/>
            <a:ext cx="50292" cy="1444751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36192"/>
            <a:ext cx="341985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FFC95C"/>
                </a:solidFill>
                <a:latin typeface="Vazirmatn"/>
              </a:rPr>
              <a:t>حفظ حقوق افراد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8"/>
            <a:ext cx="3419856" cy="1097279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قانون اجازه نمی‌دهد زور، قدرت یا ثروت جای حق را بگیرد؛ فرد ضعیف نیز امکان دفاع دارد.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508760"/>
            <a:ext cx="420624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700" b="1" lang="fa-IR">
                <a:solidFill>
                  <a:srgbClr val="FFC95C"/>
                </a:solidFill>
                <a:latin typeface="Vazirmatn"/>
              </a:rPr>
              <a:t>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89888"/>
            <a:ext cx="3822191" cy="171907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21624" y="1527048"/>
            <a:ext cx="50292" cy="1444751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536192"/>
            <a:ext cx="341985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58E0BC"/>
                </a:solidFill>
                <a:latin typeface="Vazirmatn"/>
              </a:rPr>
              <a:t>نظم و امنیت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892808"/>
            <a:ext cx="3419856" cy="1097279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رفتارها پیش‌بینی‌پذیر می‌شوند و شهروندان با آرامش در جامعه زندگی می‌کنند.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08760"/>
            <a:ext cx="420624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700" b="1" lang="fa-IR">
                <a:solidFill>
                  <a:srgbClr val="58E0BC"/>
                </a:solidFill>
                <a:latin typeface="Vazirmatn"/>
              </a:rPr>
              <a:t>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83280"/>
            <a:ext cx="3822191" cy="171907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52544" y="3520440"/>
            <a:ext cx="50292" cy="1444751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529584"/>
            <a:ext cx="341985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FF7769"/>
                </a:solidFill>
                <a:latin typeface="Vazirmatn"/>
              </a:rPr>
              <a:t>رشد مسئولیت‌پذیری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86200"/>
            <a:ext cx="3419856" cy="1097279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رعایت قانون، خودکنترلی، احترام و توجه به پیامد رفتار را تقویت می‌کند.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502152"/>
            <a:ext cx="420624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700" b="1" lang="fa-IR">
                <a:solidFill>
                  <a:srgbClr val="FF7769"/>
                </a:solidFill>
                <a:latin typeface="Vazirmatn"/>
              </a:rPr>
              <a:t>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383280"/>
            <a:ext cx="3822191" cy="171907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1624" y="3520440"/>
            <a:ext cx="50292" cy="1444751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3529584"/>
            <a:ext cx="341985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500" b="1" lang="fa-IR">
                <a:solidFill>
                  <a:srgbClr val="C8EBFF"/>
                </a:solidFill>
                <a:latin typeface="Vazirmatn"/>
              </a:rPr>
              <a:t>حل عادلانهٔ اختلاف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3886200"/>
            <a:ext cx="3419856" cy="1097279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100" b="0" lang="fa-IR">
                <a:solidFill>
                  <a:srgbClr val="C8EBFF"/>
                </a:solidFill>
                <a:latin typeface="Vazirmatn"/>
              </a:rPr>
              <a:t>دادگاه و مرجع رسمی، به‌جای دعوا و انتقام، با دلیل و قانون داوری می‌کنند.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502152"/>
            <a:ext cx="420624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700" b="1" lang="fa-IR">
                <a:solidFill>
                  <a:srgbClr val="C8EBFF"/>
                </a:solidFill>
                <a:latin typeface="Vazirmatn"/>
              </a:rPr>
              <a:t>۴</a:t>
            </a:r>
          </a:p>
        </p:txBody>
      </p:sp>
      <p:pic>
        <p:nvPicPr>
          <p:cNvPr id="28" name="Picture 27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07592"/>
            <a:ext cx="3017520" cy="425196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9" name="Rounded Rectangle 28"/>
          <p:cNvSpPr/>
          <p:nvPr/>
        </p:nvSpPr>
        <p:spPr>
          <a:xfrm>
            <a:off x="8549640" y="5257800"/>
            <a:ext cx="2743200" cy="548640"/>
          </a:xfrm>
          <a:prstGeom prst="roundRect">
            <a:avLst/>
          </a:prstGeom>
          <a:solidFill>
            <a:srgbClr val="4B3518"/>
          </a:solidFill>
          <a:ln w="15240">
            <a:solidFill>
              <a:srgbClr val="FFC95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5367528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100" b="1" lang="fa-IR">
                <a:solidFill>
                  <a:srgbClr val="FFC95C"/>
                </a:solidFill>
                <a:latin typeface="Vazirmatn"/>
              </a:rPr>
              <a:t>قانون = سپر حق + نقشهٔ نظم</a:t>
            </a:r>
          </a:p>
        </p:txBody>
      </p:sp>
    </p:spTree>
  </p:cSld>
  <p:clrMapOvr>
    <a:masterClrMapping/>
  </p:clrMapOvr>
  <p:transition spd="slow" advClick="1" advTm="11000">
    <p:push dir="l"/>
    <p:sndAc>
      <p:stSnd>
        <p:snd r:embed="rId4" name="impact"/>
      </p:stSnd>
    </p:sndAc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آزادی مسئولانه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آزادی واقعی؛ حق انتخاب همراه با توجه به پیامد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۰۶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27080" cy="1024128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57432" y="1508760"/>
            <a:ext cx="50292" cy="749808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105247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FFC95C"/>
                </a:solidFill>
                <a:latin typeface="Vazirmatn"/>
              </a:rPr>
              <a:t>تعریف تحلیلی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10524744" cy="40233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آزادی یعنی بتوانیم حق خود را اعمال کنیم؛ اما نه به قیمت آسیب به آرامش، امنیت، سلامت یا دارایی دیگران. مسئولیت، دشمن آزادی نیست؛ شرط پایدار ماندن آن است.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0048"/>
            <a:ext cx="3456432" cy="2057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86783" y="2807208"/>
            <a:ext cx="50292" cy="178308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16352"/>
            <a:ext cx="305409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FF7769"/>
                </a:solidFill>
                <a:latin typeface="Vazirmatn"/>
              </a:rPr>
              <a:t>خانه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3054096" cy="1435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گوش دادن به موسیقی حق من است؛ ولی صدای بلند در ساعت استراحت، حق آرامش خانواده را نقض می‌کند.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670048"/>
            <a:ext cx="3456432" cy="2057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0104" y="2807208"/>
            <a:ext cx="50292" cy="178308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816352"/>
            <a:ext cx="305409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FFC95C"/>
                </a:solidFill>
                <a:latin typeface="Vazirmatn"/>
              </a:rPr>
              <a:t>خیابان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172968"/>
            <a:ext cx="3054096" cy="1435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رسیدن سریع مهم است؛ اما عبور بی‌محابا، جان خود و دیگران را در معرض خطر می‌گذارد.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670048"/>
            <a:ext cx="3456432" cy="20574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93424" y="2807208"/>
            <a:ext cx="50292" cy="178308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816352"/>
            <a:ext cx="3054096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58E0BC"/>
                </a:solidFill>
                <a:latin typeface="Vazirmatn"/>
              </a:rPr>
              <a:t>مکان عمومی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172968"/>
            <a:ext cx="3054096" cy="14356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دریافت خدمت حق همه است؛ رعایت صف، زمان و کرامت دیگران را حفظ می‌کند.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5074920"/>
            <a:ext cx="8229600" cy="658368"/>
          </a:xfrm>
          <a:prstGeom prst="roundRect">
            <a:avLst/>
          </a:prstGeom>
          <a:solidFill>
            <a:srgbClr val="144050"/>
          </a:solidFill>
          <a:ln w="15240">
            <a:solidFill>
              <a:srgbClr val="58E0B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5230368"/>
            <a:ext cx="7735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EFF8FF"/>
                </a:solidFill>
                <a:latin typeface="Vazirmatn"/>
              </a:rPr>
              <a:t>آزمون ساده: «اگر همه همین کار را انجام دهند، آیا نظم و حق دیگران باقی می‌ماند؟»</a:t>
            </a:r>
          </a:p>
        </p:txBody>
      </p:sp>
    </p:spTree>
  </p:cSld>
  <p:clrMapOvr>
    <a:masterClrMapping/>
  </p:clrMapOvr>
  <p:transition spd="slow" advClick="1" advTm="11000">
    <p:wipe dir="l"/>
    <p:sndAc>
      <p:stSnd>
        <p:snd r:embed="rId3" name="shimmer"/>
      </p:stSnd>
    </p:sndAc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سناریوی 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دنیای بدون قانون در رانندگی؛ یک زنجیرهٔ خطرناک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۰۷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71500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0292" cy="438912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470916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EFF8FF"/>
                </a:solidFill>
                <a:latin typeface="Vazirmatn"/>
              </a:rPr>
              <a:t>نادیده‌گرفتن چراغ قرمز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72768"/>
            <a:ext cx="384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7769"/>
                </a:solidFill>
                <a:latin typeface="Vazirmatn"/>
              </a:rPr>
              <a:t>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112264"/>
            <a:ext cx="594360" cy="21945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C95C"/>
                </a:solidFill>
                <a:latin typeface="Vazirmatn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50008"/>
            <a:ext cx="571500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2487168"/>
            <a:ext cx="50292" cy="43891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470916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EFF8FF"/>
                </a:solidFill>
                <a:latin typeface="Vazirmatn"/>
              </a:rPr>
              <a:t>آشفتگی در تقاطع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2505456"/>
            <a:ext cx="384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C95C"/>
                </a:solidFill>
                <a:latin typeface="Vazirmatn"/>
              </a:rPr>
              <a:t>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44952"/>
            <a:ext cx="594360" cy="21945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C95C"/>
                </a:solidFill>
                <a:latin typeface="Vazirmatn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82696"/>
            <a:ext cx="571500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5352" y="3419856"/>
            <a:ext cx="50292" cy="438912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470916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EFF8FF"/>
                </a:solidFill>
                <a:latin typeface="Vazirmatn"/>
              </a:rPr>
              <a:t>توقف جریان رفت‌وآمد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3438144"/>
            <a:ext cx="384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58E0BC"/>
                </a:solidFill>
                <a:latin typeface="Vazirmatn"/>
              </a:rPr>
              <a:t>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977639"/>
            <a:ext cx="594360" cy="21945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FFC95C"/>
                </a:solidFill>
                <a:latin typeface="Vazirmatn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15384"/>
            <a:ext cx="571500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5352" y="4352544"/>
            <a:ext cx="50292" cy="438912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79976"/>
            <a:ext cx="470916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EFF8FF"/>
                </a:solidFill>
                <a:latin typeface="Vazirmatn"/>
              </a:rPr>
              <a:t>تصادف، ترافیک و سلب امنیت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4370832"/>
            <a:ext cx="384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500" b="1" lang="fa-IR">
                <a:solidFill>
                  <a:srgbClr val="C8EBFF"/>
                </a:solidFill>
                <a:latin typeface="Vazirmatn"/>
              </a:rPr>
              <a:t>۴</a:t>
            </a:r>
          </a:p>
        </p:txBody>
      </p:sp>
      <p:pic>
        <p:nvPicPr>
          <p:cNvPr id="27" name="Picture 26" descr="traff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34440"/>
            <a:ext cx="4800600" cy="452628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8" name="Rounded Rectangle 27"/>
          <p:cNvSpPr/>
          <p:nvPr/>
        </p:nvSpPr>
        <p:spPr>
          <a:xfrm>
            <a:off x="594360" y="5230368"/>
            <a:ext cx="10698480" cy="5303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228832" y="5367528"/>
            <a:ext cx="50292" cy="256031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376672"/>
            <a:ext cx="102961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200" b="1" lang="fa-IR">
                <a:solidFill>
                  <a:srgbClr val="FFC95C"/>
                </a:solidFill>
                <a:latin typeface="Vazirmatn"/>
              </a:rPr>
              <a:t>نتیجهٔ تحلیلی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733288"/>
            <a:ext cx="10296144" cy="-91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00" b="0" lang="fa-IR">
                <a:solidFill>
                  <a:srgbClr val="C8EBFF"/>
                </a:solidFill>
                <a:latin typeface="Vazirmatn"/>
              </a:rPr>
              <a:t>یک تخلف کوچک می‌تواند حقوق ده‌ها نفر را نقض کند؛ قانون رانندگی، محدودیت بی‌دلیل نیست، بلکه قرارداد جمعی برای حفظ جان و زمان است.</a:t>
            </a:r>
          </a:p>
        </p:txBody>
      </p:sp>
    </p:spTree>
  </p:cSld>
  <p:clrMapOvr>
    <a:masterClrMapping/>
  </p:clrMapOvr>
  <p:transition spd="slow" advClick="1" advTm="11000">
    <p:fade/>
    <p:sndAc>
      <p:stSnd>
        <p:snd r:embed="rId4" name="whoosh"/>
      </p:stSnd>
    </p:sndAc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سناریوی 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اموال عمومی؛ دارایی مشترک امروز و فردای ما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۰۸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4754880" cy="35204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85232" y="1508760"/>
            <a:ext cx="50292" cy="324612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43525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58E0BC"/>
                </a:solidFill>
                <a:latin typeface="Vazirmatn"/>
              </a:rPr>
              <a:t>جامعهٔ باقانون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4352544" cy="28986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بوستان: پاکیزه و قابل استفاده برای همه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اتوبوس: صندلی و تجهیزات سالم؛ رعایت نوبت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کتابخانه: سکوت، امانت‌داری و دسترسی برابر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پیامد: هزینهٔ کمتر، اعتماد بیشتر و کیفیت زندگی بالاتر. مسئولیت شهروندی یعنی چیزی را که متعلق به همه است، مثل دارایی خود حفظ کنیم.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371600"/>
            <a:ext cx="4754880" cy="352044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58984" y="1508760"/>
            <a:ext cx="50292" cy="324612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517904"/>
            <a:ext cx="43525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FF7769"/>
                </a:solidFill>
                <a:latin typeface="Vazirmatn"/>
              </a:rPr>
              <a:t>جامعهٔ بی‌قانون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874519"/>
            <a:ext cx="4352544" cy="28986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بوستان: تخریب فضای سبز و رهاکردن زباله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اتوبوس: آسیب به تجهیزات و بی‌نظمی</a:t>
            </a:r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کتابخانه: سروصدا، گم‌شدن کتاب و محرومیت دیگران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پیامد: منابع عمومی زود فرسوده می‌شوند و هزینهٔ بازسازی از پول همه پرداخت می‌شود؛ یعنی تخلف یک نفر، زیان همگانی است.</a:t>
            </a:r>
          </a:p>
        </p:txBody>
      </p:sp>
      <p:pic>
        <p:nvPicPr>
          <p:cNvPr id="16" name="Picture 15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251960"/>
            <a:ext cx="2286000" cy="1874519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1051560" y="5166360"/>
            <a:ext cx="7818120" cy="566928"/>
          </a:xfrm>
          <a:prstGeom prst="roundRect">
            <a:avLst/>
          </a:prstGeom>
          <a:solidFill>
            <a:srgbClr val="342D20"/>
          </a:solidFill>
          <a:ln w="15240">
            <a:solidFill>
              <a:srgbClr val="FFC95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303520"/>
            <a:ext cx="7406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FFC95C"/>
                </a:solidFill>
                <a:latin typeface="Vazirmatn"/>
              </a:rPr>
              <a:t>سپر حقوق شهروندی: قانون + نظارت عمومی + وجدان مسئول</a:t>
            </a:r>
          </a:p>
        </p:txBody>
      </p:sp>
    </p:spTree>
  </p:cSld>
  <p:clrMapOvr>
    <a:masterClrMapping/>
  </p:clrMapOvr>
  <p:transition spd="slow" advClick="1" advTm="11000">
    <p:push dir="l"/>
    <p:sndAc>
      <p:stSnd>
        <p:snd r:embed="rId4" name="impact"/>
      </p:stSnd>
    </p:sndAc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از کوچک تا بزرگ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سه سطح قوانین و مقررات در زندگی روزمره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۰۹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401568" cy="361188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554480"/>
            <a:ext cx="50292" cy="333756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2999232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58E0BC"/>
                </a:solidFill>
                <a:latin typeface="Vazirmatn"/>
              </a:rPr>
              <a:t>گروهی و خانوادگی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2999232" cy="2990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تقسیم کار خانه، ساعت مطالعه، مقررات کلاس و اردو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نزدیک‌ترین محیط؛ توافق و همکاری مهم است.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480560"/>
            <a:ext cx="28346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58E0BC"/>
                </a:solidFill>
                <a:latin typeface="Vazirmatn"/>
              </a:rPr>
              <a:t>سطح 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801368"/>
            <a:ext cx="3401568" cy="361188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07808" y="1938528"/>
            <a:ext cx="50292" cy="333756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947672"/>
            <a:ext cx="2999232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FFC95C"/>
                </a:solidFill>
                <a:latin typeface="Vazirmatn"/>
              </a:rPr>
              <a:t>شهری و عمومی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304288"/>
            <a:ext cx="2999232" cy="2990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پارک، کتابخانه، اتوبوس، ورزشگاه و خیابان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افراد ناشناس نیز حق برابر دارند.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864608"/>
            <a:ext cx="28346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FFC95C"/>
                </a:solidFill>
                <a:latin typeface="Vazirmatn"/>
              </a:rPr>
              <a:t>سطح 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6136" y="2185416"/>
            <a:ext cx="3401568" cy="361188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283696" y="2322576"/>
            <a:ext cx="50292" cy="333756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2331720"/>
            <a:ext cx="2999232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FF7769"/>
                </a:solidFill>
                <a:latin typeface="Vazirmatn"/>
              </a:rPr>
              <a:t>کشوری و عمومی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688336"/>
            <a:ext cx="2999232" cy="2990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قوانین راهنمایی، مالکیت، آموزش و حقوق شهروندی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قاعدهٔ رسمی برای همهٔ کشور و دارای ضمانت اجرا.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7" y="5248656"/>
            <a:ext cx="28346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FF7769"/>
                </a:solidFill>
                <a:latin typeface="Vazirmatn"/>
              </a:rPr>
              <a:t>سطح 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715000"/>
            <a:ext cx="9875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C8EBFF"/>
                </a:solidFill>
                <a:latin typeface="Vazirmatn"/>
              </a:rPr>
              <a:t>هرچه گسترهٔ اثر یک رفتار بیشتر باشد، نیاز به قواعد رسمی‌تر و ضمانت اجرای قوی‌تر می‌شود.</a:t>
            </a:r>
          </a:p>
        </p:txBody>
      </p:sp>
    </p:spTree>
  </p:cSld>
  <p:clrMapOvr>
    <a:masterClrMapping/>
  </p:clrMapOvr>
  <p:transition spd="slow" advClick="1" advTm="11000">
    <p:wipe dir="l"/>
    <p:sndAc>
      <p:stSnd>
        <p:snd r:embed="rId3" name="shimmer"/>
      </p:stSnd>
    </p:sndAc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فعالیت کارگاهی • صفحهٔ ۱۵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اردوی دانش‌آموزی؛ قانون‌گذاری برای یک تجربهٔ امن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۱۰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566160" cy="12161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96511" y="1463039"/>
            <a:ext cx="50292" cy="94183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72184"/>
            <a:ext cx="3163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FFC95C"/>
                </a:solidFill>
                <a:latin typeface="Vazirmatn"/>
              </a:rPr>
              <a:t>چادر و وسایل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3163824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50" b="0" lang="fa-IR">
                <a:solidFill>
                  <a:srgbClr val="C8EBFF"/>
                </a:solidFill>
                <a:latin typeface="Vazirmatn"/>
              </a:rPr>
              <a:t>محل هر وسیله مشخص؛ وسایل مشترک با اجازه و سالم تحویل داده شود.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566160" cy="12161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91272" y="1463039"/>
            <a:ext cx="50292" cy="941832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72184"/>
            <a:ext cx="3163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58E0BC"/>
                </a:solidFill>
                <a:latin typeface="Vazirmatn"/>
              </a:rPr>
              <a:t>ساعات استراحت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28800"/>
            <a:ext cx="3163824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50" b="0" lang="fa-IR">
                <a:solidFill>
                  <a:srgbClr val="C8EBFF"/>
                </a:solidFill>
                <a:latin typeface="Vazirmatn"/>
              </a:rPr>
              <a:t>خاموشی در ساعت توافق‌شده؛ سکوت برای حفظ حق استراحت همه.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43200"/>
            <a:ext cx="3566160" cy="12161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96511" y="2880360"/>
            <a:ext cx="50292" cy="941832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889504"/>
            <a:ext cx="3163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FF7769"/>
                </a:solidFill>
                <a:latin typeface="Vazirmatn"/>
              </a:rPr>
              <a:t>آتش و ایمنی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246120"/>
            <a:ext cx="3163824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50" b="0" lang="fa-IR">
                <a:solidFill>
                  <a:srgbClr val="C8EBFF"/>
                </a:solidFill>
                <a:latin typeface="Vazirmatn"/>
              </a:rPr>
              <a:t>روشن‌کردن آتش فقط در محل مجاز و با حضور مسئول؛ آب در دسترس باشد.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43200"/>
            <a:ext cx="3566160" cy="12161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91272" y="2880360"/>
            <a:ext cx="50292" cy="941832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889504"/>
            <a:ext cx="3163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C8EBFF"/>
                </a:solidFill>
                <a:latin typeface="Vazirmatn"/>
              </a:rPr>
              <a:t>نوبت غذا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246120"/>
            <a:ext cx="3163824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50" b="0" lang="fa-IR">
                <a:solidFill>
                  <a:srgbClr val="C8EBFF"/>
                </a:solidFill>
                <a:latin typeface="Vazirmatn"/>
              </a:rPr>
              <a:t>صف، سهم برابر، جلوگیری از اسراف و همکاری در جمع‌آوری.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3566160" cy="121615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96511" y="4297680"/>
            <a:ext cx="50292" cy="94183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306824"/>
            <a:ext cx="31638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400" b="1" lang="fa-IR">
                <a:solidFill>
                  <a:srgbClr val="FFC95C"/>
                </a:solidFill>
                <a:latin typeface="Vazirmatn"/>
              </a:rPr>
              <a:t>کار گروهی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663440"/>
            <a:ext cx="3163824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50" b="0" lang="fa-IR">
                <a:solidFill>
                  <a:srgbClr val="C8EBFF"/>
                </a:solidFill>
                <a:latin typeface="Vazirmatn"/>
              </a:rPr>
              <a:t>تقسیم نقش روشن؛ هرکس مسئول انجام وظیفه و گزارش نتیجه است.</a:t>
            </a:r>
          </a:p>
        </p:txBody>
      </p:sp>
      <p:pic>
        <p:nvPicPr>
          <p:cNvPr id="28" name="Picture 27" descr="c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71600"/>
            <a:ext cx="3611880" cy="393192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9" name="Rounded Rectangle 28"/>
          <p:cNvSpPr/>
          <p:nvPr/>
        </p:nvSpPr>
        <p:spPr>
          <a:xfrm>
            <a:off x="7973568" y="5230368"/>
            <a:ext cx="3154680" cy="548640"/>
          </a:xfrm>
          <a:prstGeom prst="roundRect">
            <a:avLst/>
          </a:prstGeom>
          <a:solidFill>
            <a:srgbClr val="1A4641"/>
          </a:solidFill>
          <a:ln w="15240">
            <a:solidFill>
              <a:srgbClr val="58E0B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5358384"/>
            <a:ext cx="2834640" cy="283464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100" b="1" lang="fa-IR">
                <a:solidFill>
                  <a:srgbClr val="58E0BC"/>
                </a:solidFill>
                <a:latin typeface="Vazirmatn"/>
              </a:rPr>
              <a:t>قاعدهٔ خوب: روشن، عادلانه و قابل اجرا</a:t>
            </a:r>
          </a:p>
        </p:txBody>
      </p:sp>
    </p:spTree>
  </p:cSld>
  <p:clrMapOvr>
    <a:masterClrMapping/>
  </p:clrMapOvr>
  <p:transition spd="slow" advClick="1" advTm="11000">
    <p:fade/>
    <p:sndAc>
      <p:stSnd>
        <p:snd r:embed="rId4" name="whoosh"/>
      </p:stSnd>
    </p:sndAc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قانون متناسب با محیط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چرا هر مکان عمومی مقررات اختصاصی دارد؟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۱۱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212080" cy="18288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42432" y="1508760"/>
            <a:ext cx="50292" cy="1554480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48097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C8EBFF"/>
                </a:solidFill>
                <a:latin typeface="Vazirmatn"/>
              </a:rPr>
              <a:t>کتابخانه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4809744" cy="12070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قاعدهٔ کلیدی: سکوت و امانت‌داری</a:t>
            </a:r>
            <a:br/>
            <a:r>
              <a:rPr sz="1300" b="0" lang="fa-IR">
                <a:solidFill>
                  <a:srgbClr val="C8EBFF"/>
                </a:solidFill>
                <a:latin typeface="Vazirmatn"/>
              </a:rPr>
              <a:t>دلیل: زیرا تمرکز و دسترسی دیگران نباید مختل شود.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5212080" cy="18288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28832" y="1508760"/>
            <a:ext cx="50292" cy="155448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517904"/>
            <a:ext cx="48097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58E0BC"/>
                </a:solidFill>
                <a:latin typeface="Vazirmatn"/>
              </a:rPr>
              <a:t>پارک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874519"/>
            <a:ext cx="4809744" cy="12070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قاعدهٔ کلیدی: پاکیزگی و حفظ فضای سبز</a:t>
            </a:r>
            <a:br/>
            <a:r>
              <a:rPr sz="1300" b="0" lang="fa-IR">
                <a:solidFill>
                  <a:srgbClr val="C8EBFF"/>
                </a:solidFill>
                <a:latin typeface="Vazirmatn"/>
              </a:rPr>
              <a:t>دلیل: چون محیط و امکانات آن متعلق به همه و نسل آینده است.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5212080" cy="18288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2432" y="3611879"/>
            <a:ext cx="50292" cy="155448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21024"/>
            <a:ext cx="48097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FF7769"/>
                </a:solidFill>
                <a:latin typeface="Vazirmatn"/>
              </a:rPr>
              <a:t>ورزشگاه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77639"/>
            <a:ext cx="4809744" cy="12070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قاعدهٔ کلیدی: ایمنی، نوبت و احترام</a:t>
            </a:r>
            <a:br/>
            <a:r>
              <a:rPr sz="1300" b="0" lang="fa-IR">
                <a:solidFill>
                  <a:srgbClr val="C8EBFF"/>
                </a:solidFill>
                <a:latin typeface="Vazirmatn"/>
              </a:rPr>
              <a:t>دلیل: برای پیشگیری از درگیری، ازدحام و آسیب جسمی.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474720"/>
            <a:ext cx="5212080" cy="18288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228832" y="3611879"/>
            <a:ext cx="50292" cy="155448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3621024"/>
            <a:ext cx="480974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800" b="1" lang="fa-IR">
                <a:solidFill>
                  <a:srgbClr val="FFC95C"/>
                </a:solidFill>
                <a:latin typeface="Vazirmatn"/>
              </a:rPr>
              <a:t>خیابان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977639"/>
            <a:ext cx="4809744" cy="120700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قاعدهٔ کلیدی: عبور قانونمند</a:t>
            </a:r>
            <a:br/>
            <a:r>
              <a:rPr sz="1300" b="0" lang="fa-IR">
                <a:solidFill>
                  <a:srgbClr val="C8EBFF"/>
                </a:solidFill>
                <a:latin typeface="Vazirmatn"/>
              </a:rPr>
              <a:t>دلیل: چون یک تصمیم ناگهانی می‌تواند جان افراد زیادی را تهدید کند.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5504688"/>
            <a:ext cx="7909560" cy="384048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94392" y="5641848"/>
            <a:ext cx="50292" cy="109728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5650992"/>
            <a:ext cx="750722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قاعدهٔ طراحی مقررات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6007607"/>
            <a:ext cx="7507224" cy="-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000" b="0" lang="fa-IR">
                <a:solidFill>
                  <a:srgbClr val="C8EBFF"/>
                </a:solidFill>
                <a:latin typeface="Vazirmatn"/>
              </a:rPr>
              <a:t>خطر محیط + حقوق افراد + هدف مکان = مقررات مناسب</a:t>
            </a:r>
          </a:p>
        </p:txBody>
      </p:sp>
    </p:spTree>
  </p:cSld>
  <p:clrMapOvr>
    <a:masterClrMapping/>
  </p:clrMapOvr>
  <p:transition spd="slow" advClick="1" advTm="11000">
    <p:push dir="l"/>
    <p:sndAc>
      <p:stSnd>
        <p:snd r:embed="rId3" name="impact"/>
      </p:stSnd>
    </p:sndAc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دو راهنمای رفتار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قانون و اخلاق؛ هم‌پوشان، اما نه یکسان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۱۲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4572000" cy="34290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2352" y="1508760"/>
            <a:ext cx="50292" cy="315468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416966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000" b="1" lang="fa-IR">
                <a:solidFill>
                  <a:srgbClr val="FF7769"/>
                </a:solidFill>
                <a:latin typeface="Vazirmatn"/>
              </a:rPr>
              <a:t>اخلاق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4169663" cy="28072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راهنمای رفتار درست، انسانی و فراتر از حداقل‌هاست. همیشه اجبار رسمی ندارد، اما وجدان و ارزش‌های انسانی پشتیبان آن‌اند.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مثال: کمک داوطلبانه به فرد نابینا، گذشت، مهربانی و رعایت حال سالمندان.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اخلاق می‌پرسد: «بهترین و انسانی‌ترین کار چیست؟»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8" y="1371600"/>
            <a:ext cx="4572000" cy="342900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1508760"/>
            <a:ext cx="50292" cy="3154680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1517904"/>
            <a:ext cx="416966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000" b="1" lang="fa-IR">
                <a:solidFill>
                  <a:srgbClr val="FFC95C"/>
                </a:solidFill>
                <a:latin typeface="Vazirmatn"/>
              </a:rPr>
              <a:t>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2976" y="1874519"/>
            <a:ext cx="4169663" cy="28072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حداقل قاعدهٔ الزام‌آور برای حفظ نظم و حقوق عمومی است. ضمانت اجرای رسمی دارد و تخلف از آن ممکن است پیامد قانونی داشته باشد.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مثال: ایستادن پشت چراغ قرمز، رعایت مالکیت و پرهیز از آسیب به اموال عمومی.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قانون می‌پرسد: «چه کاری باید یا نباید انجام شود؟»</a:t>
            </a:r>
          </a:p>
        </p:txBody>
      </p:sp>
      <p:pic>
        <p:nvPicPr>
          <p:cNvPr id="16" name="Picture 15" descr="et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4160520"/>
            <a:ext cx="2514600" cy="196596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1188720" y="5138928"/>
            <a:ext cx="7452360" cy="658368"/>
          </a:xfrm>
          <a:prstGeom prst="roundRect">
            <a:avLst/>
          </a:prstGeom>
          <a:solidFill>
            <a:srgbClr val="193B46"/>
          </a:solidFill>
          <a:ln w="15240">
            <a:solidFill>
              <a:srgbClr val="58E0B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303520"/>
            <a:ext cx="699516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58E0BC"/>
                </a:solidFill>
                <a:latin typeface="Vazirmatn"/>
              </a:rPr>
              <a:t>جامعهٔ مطلوب فقط قانون‌مدار نیست؛ اخلاق‌مدار و مسئول نیز هست.</a:t>
            </a:r>
          </a:p>
        </p:txBody>
      </p:sp>
    </p:spTree>
  </p:cSld>
  <p:clrMapOvr>
    <a:masterClrMapping/>
  </p:clrMapOvr>
  <p:transition spd="slow" advClick="1" advTm="11000">
    <p:wipe dir="l"/>
    <p:sndAc>
      <p:stSnd>
        <p:snd r:embed="rId4" name="shimmer"/>
      </p:stSnd>
    </p:sndAc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دانستنی تکمیلی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قانون اساسی؛ مادر همهٔ قوانین کشور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۱۳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6720840" cy="1115568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51192" y="1508760"/>
            <a:ext cx="50292" cy="841247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FFC95C"/>
                </a:solidFill>
                <a:latin typeface="Vazirmatn"/>
              </a:rPr>
              <a:t>تعریف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6318503" cy="4937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قانون اساسی، اصول بنیادین ادارهٔ کشور، ساختار نهادها و حقوق و مسئولیت‌های عمومی را مشخص می‌کند؛ به همین دلیل «مادر قوانین» نامیده می‌شود.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0048"/>
            <a:ext cx="6720840" cy="1115568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51192" y="2807208"/>
            <a:ext cx="50292" cy="841247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16352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58E0BC"/>
                </a:solidFill>
                <a:latin typeface="Vazirmatn"/>
              </a:rPr>
              <a:t>تصویب تاریخی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6318503" cy="4937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قانون اساسی جمهوری اسلامی ایران پس از انقلاب اسلامی، در همه‌پرسی ۱۲ آذر ۱۳۵۸ به رأی مردم گذاشته شد و تصویب شد.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68496"/>
            <a:ext cx="6720840" cy="1298448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51192" y="4105656"/>
            <a:ext cx="50292" cy="1024127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14800"/>
            <a:ext cx="6318503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700" b="1" lang="fa-IR">
                <a:solidFill>
                  <a:srgbClr val="FF7769"/>
                </a:solidFill>
                <a:latin typeface="Vazirmatn"/>
              </a:rPr>
              <a:t>اصل برتری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471416"/>
            <a:ext cx="6318503" cy="67665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300" b="0" lang="fa-IR">
                <a:solidFill>
                  <a:srgbClr val="C8EBFF"/>
                </a:solidFill>
                <a:latin typeface="Vazirmatn"/>
              </a:rPr>
              <a:t>قوانین عادی و مقررات پایین‌تر نباید با قانون اساسی مغایرت داشته باشند. این سلسله‌مراتب، از پراکندگی و تعارض قواعد جلوگیری می‌کند.</a:t>
            </a:r>
          </a:p>
        </p:txBody>
      </p:sp>
      <p:pic>
        <p:nvPicPr>
          <p:cNvPr id="20" name="Picture 19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61872"/>
            <a:ext cx="3977639" cy="452628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21" name="TextBox 20"/>
          <p:cNvSpPr txBox="1"/>
          <p:nvPr/>
        </p:nvSpPr>
        <p:spPr>
          <a:xfrm>
            <a:off x="7955279" y="5513832"/>
            <a:ext cx="2926080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100" b="1" lang="fa-IR">
                <a:solidFill>
                  <a:srgbClr val="FFC95C"/>
                </a:solidFill>
                <a:latin typeface="Vazirmatn"/>
              </a:rPr>
              <a:t>قانون اساسی ← چارچوب مشترک حکومت و ملت</a:t>
            </a:r>
          </a:p>
        </p:txBody>
      </p:sp>
    </p:spTree>
  </p:cSld>
  <p:clrMapOvr>
    <a:masterClrMapping/>
  </p:clrMapOvr>
  <p:transition spd="slow" advClick="1" advTm="11000">
    <p:fade/>
    <p:sndAc>
      <p:stSnd>
        <p:snd r:embed="rId4" name="whoosh"/>
      </p:stSnd>
    </p:sndAc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تعادل شهروندی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حق و تکلیف؛ دو کفهٔ یک ترازوی اجتماعی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۱۴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4800600" cy="278892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0952" y="1508760"/>
            <a:ext cx="50292" cy="2514600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439826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100" b="1" lang="fa-IR">
                <a:solidFill>
                  <a:srgbClr val="58E0BC"/>
                </a:solidFill>
                <a:latin typeface="Vazirmatn"/>
              </a:rPr>
              <a:t>حق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4398264" cy="216712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امتیاز و امکانی که فرد می‌تواند از آن برخوردار شود؛ مانند حق آموزش، امنیت، احترام، استفاده از امکانات عمومی و بیان نظر در چارچوب قانون.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حق به ما می‌گوید: «چه چیزی باید برای من محترم شمرده شود؟»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371600"/>
            <a:ext cx="4800600" cy="2788920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68712" y="1508760"/>
            <a:ext cx="50292" cy="2514600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1517904"/>
            <a:ext cx="4398264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100" b="1" lang="fa-IR">
                <a:solidFill>
                  <a:srgbClr val="FF7769"/>
                </a:solidFill>
                <a:latin typeface="Vazirmatn"/>
              </a:rPr>
              <a:t>تکلیف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874519"/>
            <a:ext cx="4398264" cy="2167127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 rtl="1"/>
            <a:r>
              <a:rPr sz="1400" b="0" lang="fa-IR">
                <a:solidFill>
                  <a:srgbClr val="C8EBFF"/>
                </a:solidFill>
                <a:latin typeface="Vazirmatn"/>
              </a:rPr>
              <a:t>مسئولیتی که فرد در برابر خود، دیگران و جامعه دارد؛ مانند رعایت مقررات مدرسه، حفظ اموال عمومی، احترام به نوبت و پرهیز از آسیب.</a:t>
            </a:r>
            <a:br/>
            <a:br/>
            <a:r>
              <a:rPr sz="1400" b="0" lang="fa-IR">
                <a:solidFill>
                  <a:srgbClr val="C8EBFF"/>
                </a:solidFill>
                <a:latin typeface="Vazirmatn"/>
              </a:rPr>
              <a:t>تکلیف می‌گوید: «من برای حفظ حقوق چه کاری باید انجام دهم؟»</a:t>
            </a:r>
          </a:p>
        </p:txBody>
      </p:sp>
      <p:pic>
        <p:nvPicPr>
          <p:cNvPr id="16" name="Picture 15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886200"/>
            <a:ext cx="3383280" cy="2057400"/>
          </a:xfrm>
          <a:prstGeom prst="rect">
            <a:avLst/>
          </a:prstGeom>
          <a:effectLst>
            <a:outerShdw blurRad="90000" dist="450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777240" y="4572000"/>
            <a:ext cx="333756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200" b="1" lang="fa-IR">
                <a:solidFill>
                  <a:srgbClr val="C8EBFF"/>
                </a:solidFill>
                <a:latin typeface="Vazirmatn"/>
              </a:rPr>
              <a:t>اگر فقط حق بخواهیم، حقوق دیگران نادیده گرفته می‌شود.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572000"/>
            <a:ext cx="329184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200" b="1" lang="fa-IR">
                <a:solidFill>
                  <a:srgbClr val="FFC95C"/>
                </a:solidFill>
                <a:latin typeface="Vazirmatn"/>
              </a:rPr>
              <a:t>اگر تکلیف را انجام دهیم، حق همه پایدارتر می‌ماند.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806440"/>
            <a:ext cx="630936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58E0BC"/>
                </a:solidFill>
                <a:latin typeface="Vazirmatn"/>
              </a:rPr>
              <a:t>هیچ حقی بدون تکلیف پایدار نمی‌ماند؛ این دو، دو کفهٔ یک ترازو هستند.</a:t>
            </a:r>
          </a:p>
        </p:txBody>
      </p:sp>
    </p:spTree>
  </p:cSld>
  <p:clrMapOvr>
    <a:masterClrMapping/>
  </p:clrMapOvr>
  <p:transition spd="slow" advClick="1" advTm="11000">
    <p:push dir="l"/>
    <p:sndAc>
      <p:stSnd>
        <p:snd r:embed="rId4" name="impact"/>
      </p:stSnd>
    </p:sndAc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سنجش کلاسی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پنج پرسش مرور درس • برای هر سؤال ۱۵ ثانیه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۱۵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43584"/>
            <a:ext cx="1069848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28832" y="1380744"/>
            <a:ext cx="50292" cy="43891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9528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300" b="1" lang="fa-IR">
                <a:solidFill>
                  <a:srgbClr val="EFF8FF"/>
                </a:solidFill>
                <a:latin typeface="Vazirmatn"/>
              </a:rPr>
              <a:t>چرا ورود به اجتماع باعث شکل‌گیری حقوق متقابل می‌شود؟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8752" y="1380744"/>
            <a:ext cx="39319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600" b="1" lang="fa-IR">
                <a:solidFill>
                  <a:srgbClr val="FFC95C"/>
                </a:solidFill>
                <a:latin typeface="Vazirmatn"/>
              </a:rPr>
              <a:t>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57984"/>
            <a:ext cx="1069848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28832" y="2295144"/>
            <a:ext cx="50292" cy="438912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13432"/>
            <a:ext cx="9528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300" b="1" lang="fa-IR">
                <a:solidFill>
                  <a:srgbClr val="EFF8FF"/>
                </a:solidFill>
                <a:latin typeface="Vazirmatn"/>
              </a:rPr>
              <a:t>تفاوت اصلی «مقررات» و «قانون» چیست؟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88752" y="2295144"/>
            <a:ext cx="39319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600" b="1" lang="fa-IR">
                <a:solidFill>
                  <a:srgbClr val="58E0BC"/>
                </a:solidFill>
                <a:latin typeface="Vazirmatn"/>
              </a:rPr>
              <a:t>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72384"/>
            <a:ext cx="1069848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28832" y="3209544"/>
            <a:ext cx="50292" cy="438912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27832"/>
            <a:ext cx="9528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300" b="1" lang="fa-IR">
                <a:solidFill>
                  <a:srgbClr val="EFF8FF"/>
                </a:solidFill>
                <a:latin typeface="Vazirmatn"/>
              </a:rPr>
              <a:t>چهار دلیل اصلی نیاز جامعه به قانون را نام ببرید.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3209544"/>
            <a:ext cx="39319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600" b="1" lang="fa-IR">
                <a:solidFill>
                  <a:srgbClr val="FF7769"/>
                </a:solidFill>
                <a:latin typeface="Vazirmatn"/>
              </a:rPr>
              <a:t>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86784"/>
            <a:ext cx="1069848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228832" y="4123944"/>
            <a:ext cx="50292" cy="438912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42232"/>
            <a:ext cx="9528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300" b="1" lang="fa-IR">
                <a:solidFill>
                  <a:srgbClr val="EFF8FF"/>
                </a:solidFill>
                <a:latin typeface="Vazirmatn"/>
              </a:rPr>
              <a:t>در مثال چراغ قرمز، تخلف یک نفر چگونه به دیگران آسیب می‌زند؟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4123944"/>
            <a:ext cx="39319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600" b="1" lang="fa-IR">
                <a:solidFill>
                  <a:srgbClr val="C8EBFF"/>
                </a:solidFill>
                <a:latin typeface="Vazirmatn"/>
              </a:rPr>
              <a:t>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901184"/>
            <a:ext cx="10698480" cy="71323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228832" y="5038344"/>
            <a:ext cx="50292" cy="43891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56632"/>
            <a:ext cx="9528048" cy="34747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300" b="1" lang="fa-IR">
                <a:solidFill>
                  <a:srgbClr val="EFF8FF"/>
                </a:solidFill>
                <a:latin typeface="Vazirmatn"/>
              </a:rPr>
              <a:t>رابطهٔ حق و تکلیف را با یک مثال توضیح دهید.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5038344"/>
            <a:ext cx="393192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600" b="1" lang="fa-IR">
                <a:solidFill>
                  <a:srgbClr val="FFC95C"/>
                </a:solidFill>
                <a:latin typeface="Vazirmatn"/>
              </a:rPr>
              <a:t>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925312"/>
            <a:ext cx="8503920" cy="256032"/>
          </a:xfrm>
          <a:prstGeom prst="roundRect">
            <a:avLst/>
          </a:prstGeom>
          <a:solidFill>
            <a:srgbClr val="113145"/>
          </a:solidFill>
          <a:ln w="15240">
            <a:solidFill>
              <a:srgbClr val="3C7896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20240" y="5998464"/>
            <a:ext cx="393192" cy="73152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0" y="5998464"/>
            <a:ext cx="393192" cy="73152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5998464"/>
            <a:ext cx="393192" cy="73152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5998464"/>
            <a:ext cx="393192" cy="73152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5998464"/>
            <a:ext cx="393192" cy="73152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5998464"/>
            <a:ext cx="393192" cy="73152"/>
          </a:xfrm>
          <a:prstGeom prst="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79" y="5998464"/>
            <a:ext cx="393192" cy="73152"/>
          </a:xfrm>
          <a:prstGeom prst="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5998464"/>
            <a:ext cx="393192" cy="73152"/>
          </a:xfrm>
          <a:prstGeom prst="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5998464"/>
            <a:ext cx="393192" cy="73152"/>
          </a:xfrm>
          <a:prstGeom prst="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5998464"/>
            <a:ext cx="393192" cy="73152"/>
          </a:xfrm>
          <a:prstGeom prst="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5998464"/>
            <a:ext cx="393192" cy="73152"/>
          </a:xfrm>
          <a:prstGeom prst="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79" y="5998464"/>
            <a:ext cx="393192" cy="73152"/>
          </a:xfrm>
          <a:prstGeom prst="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3919" y="5998464"/>
            <a:ext cx="393192" cy="73152"/>
          </a:xfrm>
          <a:prstGeom prst="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5998464"/>
            <a:ext cx="393192" cy="73152"/>
          </a:xfrm>
          <a:prstGeom prst="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5998464"/>
            <a:ext cx="393192" cy="73152"/>
          </a:xfrm>
          <a:prstGeom prst="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6208776"/>
            <a:ext cx="164592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000" b="1" lang="fa-IR">
                <a:solidFill>
                  <a:srgbClr val="FFC95C"/>
                </a:solidFill>
                <a:latin typeface="Vazirmatn"/>
              </a:rPr>
              <a:t>۱۵ ثانیه فکر کن…</a:t>
            </a:r>
          </a:p>
        </p:txBody>
      </p:sp>
    </p:spTree>
  </p:cSld>
  <p:clrMapOvr>
    <a:masterClrMapping/>
  </p:clrMapOvr>
  <p:transition spd="slow" advClick="1" advTm="20000">
    <p:wipe dir="l"/>
    <p:sndAc>
      <p:stSnd>
        <p:snd r:embed="rId3" name="shimmer"/>
      </p:stSnd>
    </p:sndAc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"/>
            <a:ext cx="10881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000" b="1" lang="fa-IR">
                <a:solidFill>
                  <a:srgbClr val="FFC95C"/>
                </a:solidFill>
                <a:latin typeface="Vazirmatn"/>
              </a:rPr>
              <a:t>پاسخنامه و جمع‌بندی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3035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2700" b="1" lang="fa-IR">
                <a:solidFill>
                  <a:srgbClr val="EFF8FF"/>
                </a:solidFill>
                <a:latin typeface="Vazirmatn"/>
              </a:rPr>
              <a:t>قانون یعنی احترام به حق خود و دیگران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097280"/>
            <a:ext cx="1600200" cy="32004"/>
          </a:xfrm>
          <a:prstGeom prst="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828800" cy="182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 rtl="1"/>
            <a:r>
              <a:rPr sz="900" b="0" lang="fa-IR">
                <a:solidFill>
                  <a:srgbClr val="7EB0CD"/>
                </a:solidFill>
                <a:latin typeface="Vazirmatn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19088"/>
            <a:ext cx="9601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00" b="1" lang="fa-IR">
                <a:solidFill>
                  <a:srgbClr val="FFC95C"/>
                </a:solidFill>
                <a:latin typeface="Vazirmatn"/>
              </a:rPr>
              <a:t>۱۶ / ۱۶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7680960" cy="62179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1312" y="1371600"/>
            <a:ext cx="50292" cy="34747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62456"/>
            <a:ext cx="6583680" cy="3383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50" b="0" lang="fa-IR">
                <a:solidFill>
                  <a:srgbClr val="EFF8FF"/>
                </a:solidFill>
                <a:latin typeface="Vazirmatn"/>
              </a:rPr>
              <a:t>زیرا رابطه با دیگران، انتظارها و مسئولیت‌های دوطرفه ایجاد می‌کند.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344168"/>
            <a:ext cx="384048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FFC95C"/>
                </a:solidFill>
                <a:latin typeface="Vazirmatn"/>
              </a:rPr>
              <a:t>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39112"/>
            <a:ext cx="7680960" cy="62179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2" y="2176272"/>
            <a:ext cx="50292" cy="347472"/>
          </a:xfrm>
          <a:prstGeom prst="roundRect">
            <a:avLst/>
          </a:prstGeom>
          <a:solidFill>
            <a:srgbClr val="58E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67128"/>
            <a:ext cx="6583680" cy="3383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50" b="0" lang="fa-IR">
                <a:solidFill>
                  <a:srgbClr val="EFF8FF"/>
                </a:solidFill>
                <a:latin typeface="Vazirmatn"/>
              </a:rPr>
              <a:t>مقررات برای گروه یا محیط محدود است؛ قانون رسمی، عمومی و لازم‌الاجراست.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148840"/>
            <a:ext cx="384048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58E0BC"/>
                </a:solidFill>
                <a:latin typeface="Vazirmatn"/>
              </a:rPr>
              <a:t>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43784"/>
            <a:ext cx="7680960" cy="62179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1312" y="2980944"/>
            <a:ext cx="50292" cy="347472"/>
          </a:xfrm>
          <a:prstGeom prst="roundRect">
            <a:avLst/>
          </a:prstGeom>
          <a:solidFill>
            <a:srgbClr val="FF7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71800"/>
            <a:ext cx="6583680" cy="3383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50" b="0" lang="fa-IR">
                <a:solidFill>
                  <a:srgbClr val="EFF8FF"/>
                </a:solidFill>
                <a:latin typeface="Vazirmatn"/>
              </a:rPr>
              <a:t>حفظ حقوق، نظم و امنیت، رشد مسئولیت‌پذیری و حل عادلانهٔ اختلاف.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953512"/>
            <a:ext cx="384048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FF7769"/>
                </a:solidFill>
                <a:latin typeface="Vazirmatn"/>
              </a:rPr>
              <a:t>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48456"/>
            <a:ext cx="7680960" cy="62179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1312" y="3785616"/>
            <a:ext cx="50292" cy="347472"/>
          </a:xfrm>
          <a:prstGeom prst="roundRect">
            <a:avLst/>
          </a:prstGeom>
          <a:solidFill>
            <a:srgbClr val="C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76472"/>
            <a:ext cx="6583680" cy="3383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50" b="0" lang="fa-IR">
                <a:solidFill>
                  <a:srgbClr val="EFF8FF"/>
                </a:solidFill>
                <a:latin typeface="Vazirmatn"/>
              </a:rPr>
              <a:t>آشفتگی تقاطع، ترافیک، تصادف و تهدید جان و زمان دیگران ایجاد می‌کند.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758184"/>
            <a:ext cx="384048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C8EBFF"/>
                </a:solidFill>
                <a:latin typeface="Vazirmatn"/>
              </a:rPr>
              <a:t>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53128"/>
            <a:ext cx="7680960" cy="621792"/>
          </a:xfrm>
          <a:prstGeom prst="roundRect">
            <a:avLst/>
          </a:prstGeom>
          <a:solidFill>
            <a:srgbClr val="0D2A44"/>
          </a:solidFill>
          <a:ln w="15240">
            <a:solidFill>
              <a:srgbClr val="3C8CB4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2" y="4590288"/>
            <a:ext cx="50292" cy="347472"/>
          </a:xfrm>
          <a:prstGeom prst="roundRect">
            <a:avLst/>
          </a:prstGeom>
          <a:solidFill>
            <a:srgbClr val="FF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81144"/>
            <a:ext cx="6583680" cy="3383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 rtl="1"/>
            <a:r>
              <a:rPr sz="1150" b="0" lang="fa-IR">
                <a:solidFill>
                  <a:srgbClr val="EFF8FF"/>
                </a:solidFill>
                <a:latin typeface="Vazirmatn"/>
              </a:rPr>
              <a:t>حق استفاده از کتابخانه با تکلیف سکوت و امانت‌داری همراه است.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562856"/>
            <a:ext cx="384048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400" b="1" lang="fa-IR">
                <a:solidFill>
                  <a:srgbClr val="FFC95C"/>
                </a:solidFill>
                <a:latin typeface="Vazirmatn"/>
              </a:rPr>
              <a:t>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234440"/>
            <a:ext cx="2743200" cy="1874519"/>
          </a:xfrm>
          <a:prstGeom prst="roundRect">
            <a:avLst/>
          </a:prstGeom>
          <a:solidFill>
            <a:srgbClr val="463116"/>
          </a:solidFill>
          <a:ln w="15240">
            <a:solidFill>
              <a:srgbClr val="FFC95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572768"/>
            <a:ext cx="2212848" cy="10058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2000" b="1" lang="fa-IR">
                <a:solidFill>
                  <a:srgbClr val="FFC95C"/>
                </a:solidFill>
                <a:latin typeface="Vazirmatn"/>
              </a:rPr>
              <a:t>«قانون یعنی</a:t>
            </a:r>
            <a:br/>
            <a:r>
              <a:rPr sz="2000" b="1" lang="fa-IR">
                <a:solidFill>
                  <a:srgbClr val="FFC95C"/>
                </a:solidFill>
                <a:latin typeface="Vazirmatn"/>
              </a:rPr>
              <a:t>احترام به حق خود</a:t>
            </a:r>
            <a:br/>
            <a:r>
              <a:rPr sz="2000" b="1" lang="fa-IR">
                <a:solidFill>
                  <a:srgbClr val="FFC95C"/>
                </a:solidFill>
                <a:latin typeface="Vazirmatn"/>
              </a:rPr>
              <a:t>و دیگران.»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3337560"/>
            <a:ext cx="2743200" cy="2240280"/>
          </a:xfrm>
          <a:prstGeom prst="roundRect">
            <a:avLst/>
          </a:prstGeom>
          <a:solidFill>
            <a:srgbClr val="12414D"/>
          </a:solidFill>
          <a:ln w="15240">
            <a:solidFill>
              <a:srgbClr val="58E0BC"/>
            </a:solidFill>
          </a:ln>
          <a:effectLst>
            <a:outerShdw blurRad="63500" dist="38100" dir="27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602736"/>
            <a:ext cx="2212848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700" b="1" lang="fa-IR">
                <a:solidFill>
                  <a:srgbClr val="58E0BC"/>
                </a:solidFill>
                <a:latin typeface="Vazirmatn"/>
              </a:rPr>
              <a:t>سپاس از توجه شما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4069080"/>
            <a:ext cx="2267712" cy="117043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050" b="0" lang="fa-IR">
                <a:solidFill>
                  <a:srgbClr val="EFF8FF"/>
                </a:solidFill>
                <a:latin typeface="Vazirmatn"/>
              </a:rPr>
              <a:t>گروه ۶ • کلاس ۷/۳</a:t>
            </a:r>
            <a:br/>
            <a:r>
              <a:rPr sz="1050" b="0" lang="fa-IR">
                <a:solidFill>
                  <a:srgbClr val="EFF8FF"/>
                </a:solidFill>
                <a:latin typeface="Vazirmatn"/>
              </a:rPr>
              <a:t>امین کریم‌پور · عزیزی</a:t>
            </a:r>
            <a:br/>
            <a:r>
              <a:rPr sz="1050" b="0" lang="fa-IR">
                <a:solidFill>
                  <a:srgbClr val="EFF8FF"/>
                </a:solidFill>
                <a:latin typeface="Vazirmatn"/>
              </a:rPr>
              <a:t>طاها عابدی‌فر · گله‌دار</a:t>
            </a:r>
            <a:br/>
            <a:r>
              <a:rPr sz="1050" b="0" lang="fa-IR">
                <a:solidFill>
                  <a:srgbClr val="EFF8FF"/>
                </a:solidFill>
                <a:latin typeface="Vazirmatn"/>
              </a:rPr>
              <a:t>محمدرضا فولادی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650992"/>
            <a:ext cx="658368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 rtl="1"/>
            <a:r>
              <a:rPr sz="1300" b="1" lang="fa-IR">
                <a:solidFill>
                  <a:srgbClr val="C8EBFF"/>
                </a:solidFill>
                <a:latin typeface="Vazirmatn"/>
              </a:rPr>
              <a:t>نظم + امنیت + عدالت + مسئولیت = جامعهٔ قانون‌مدار</a:t>
            </a:r>
          </a:p>
        </p:txBody>
      </p:sp>
    </p:spTree>
  </p:cSld>
  <p:clrMapOvr>
    <a:masterClrMapping/>
  </p:clrMapOvr>
  <p:transition spd="slow" advClick="1" advTm="20000">
    <p:fade/>
    <p:sndAc>
      <p:stSnd>
        <p:snd r:embed="rId3" name="whoosh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</dc:title>
  <dc:subject>درس ۳ مطالعات اجتماعی پایه هفتم</dc:subject>
  <dc:creator>گروه ۶ از کلاس ۷/۳</dc:creator>
  <cp:keywords>قانون، مقررات، حقوق، تکالیف، مطالعات اجتماعی هفتم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