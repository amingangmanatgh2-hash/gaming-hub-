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66928"/>
            <a:ext cx="41148" cy="53949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5212080" cy="2560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5B942"/>
                </a:solidFill>
                <a:latin typeface="Tahoma"/>
              </a:rPr>
              <a:t>درس ۳ • مطالعات اجتماعی پایه هفتم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353312"/>
            <a:ext cx="5303520" cy="1298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700" b="1" lang="fa-IR">
                <a:solidFill>
                  <a:srgbClr val="F6FAFC"/>
                </a:solidFill>
                <a:latin typeface="Tahoma"/>
              </a:rPr>
              <a:t>چرا به قانون</a:t>
            </a:r>
            <a:br/>
            <a:r>
              <a:rPr sz="3700" b="1" lang="fa-IR">
                <a:solidFill>
                  <a:srgbClr val="F6FAFC"/>
                </a:solidFill>
                <a:latin typeface="Tahoma"/>
              </a:rPr>
              <a:t>نیاز داریم؟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4892040" cy="5943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0" lang="fa-IR">
                <a:solidFill>
                  <a:srgbClr val="C6E7F5"/>
                </a:solidFill>
                <a:latin typeface="Tahoma"/>
              </a:rPr>
              <a:t>مسیرِ نظم، امنیت و عدالت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67328"/>
            <a:ext cx="4251960" cy="18288"/>
          </a:xfrm>
          <a:prstGeom prst="rect">
            <a:avLst/>
          </a:prstGeom>
          <a:solidFill>
            <a:srgbClr val="56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709160" cy="5943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50" b="0" lang="fa-IR">
                <a:solidFill>
                  <a:srgbClr val="F6FAFC"/>
                </a:solidFill>
                <a:latin typeface="Tahoma"/>
              </a:rPr>
              <a:t>گروه ۶ • کلاس ۷/۳</a:t>
            </a:r>
            <a:br/>
            <a:r>
              <a:rPr sz="1150" b="0" lang="fa-IR">
                <a:solidFill>
                  <a:srgbClr val="F6FAFC"/>
                </a:solidFill>
                <a:latin typeface="Tahoma"/>
              </a:rPr>
              <a:t>امین کریم‌پور · عزیزی · طاها عابدی‌فر · گله‌دار · محمدرضا فولادی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۰۱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03504" y="6291072"/>
            <a:ext cx="6096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wipe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Panel"/>
          <p:cNvSpPr/>
          <p:nvPr/>
        </p:nvSpPr>
        <p:spPr>
          <a:xfrm>
            <a:off x="749808" y="228600"/>
            <a:ext cx="1092708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56032"/>
            <a:ext cx="10872215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1024127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فهرست مسیر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1005840" y="713232"/>
            <a:ext cx="10195559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در این ارائه چه می‌خوانیم؟</a:t>
            </a:r>
          </a:p>
        </p:txBody>
      </p:sp>
      <p:sp>
        <p:nvSpPr>
          <p:cNvPr id="8" name="!!KineticRail"/>
          <p:cNvSpPr/>
          <p:nvPr/>
        </p:nvSpPr>
        <p:spPr>
          <a:xfrm>
            <a:off x="11832336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۰۲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۰۲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12192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417320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1874519"/>
            <a:ext cx="7955279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408176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آغاز و مسئله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463040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 تا 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2258568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4DD2AC"/>
                </a:solidFill>
                <a:latin typeface="Tahoma"/>
              </a:rPr>
              <a:t>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5376" y="2715768"/>
            <a:ext cx="7754111" cy="16459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38528" y="2249424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چرا به قانون نیاز داریم؟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04288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۴ تا 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99816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6759"/>
                </a:solidFill>
                <a:latin typeface="Tahoma"/>
              </a:rPr>
              <a:t>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76272" y="3557016"/>
            <a:ext cx="7552944" cy="16459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9424" y="3090672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قانون در زندگی روزمره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145536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۱۰ تا ۱۳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3936" y="3941064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B287F5"/>
                </a:solidFill>
                <a:latin typeface="Tahoma"/>
              </a:rPr>
              <a:t>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7168" y="4398264"/>
            <a:ext cx="7351775" cy="16459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3931920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حق، تکلیف و چارچوب کشور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986784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۱۴ تا ۱۶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2" y="4782312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B942"/>
                </a:solidFill>
                <a:latin typeface="Tahoma"/>
              </a:rPr>
              <a:t>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98064" y="5239512"/>
            <a:ext cx="7150607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71216" y="4773168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مرور و جمع‌بندی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828032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۱۷ و ۱۸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school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475488" y="228600"/>
            <a:ext cx="1120140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1114653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749808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زندگی اجتماعی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731520" y="713232"/>
            <a:ext cx="1046988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هر ارتباط، یک حق و یک مسئولیت می‌سازد</a:t>
            </a:r>
          </a:p>
        </p:txBody>
      </p:sp>
      <p:sp>
        <p:nvSpPr>
          <p:cNvPr id="8" name="!!KineticRail"/>
          <p:cNvSpPr/>
          <p:nvPr/>
        </p:nvSpPr>
        <p:spPr>
          <a:xfrm>
            <a:off x="274320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۰۳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۰۳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18288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371600"/>
            <a:ext cx="529437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18504" y="1399032"/>
            <a:ext cx="523951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535156" y="155448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89204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حقِ من ↔ مسئولیتِ من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58568"/>
            <a:ext cx="960120" cy="2011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32304"/>
            <a:ext cx="489204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در خانواده، مدرسه و محله از امکانات و احترام برخورداریم؛ در مقابل باید حق دیگران را رعایت کنیم.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416052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4215383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4DD2AC"/>
                </a:solidFill>
                <a:latin typeface="Tahoma"/>
              </a:rPr>
              <a:t>۰۱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4315968"/>
            <a:ext cx="16459" cy="31089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4251959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حق آموزش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480060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7" y="4855464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B942"/>
                </a:solidFill>
                <a:latin typeface="Tahoma"/>
              </a:rPr>
              <a:t>۰۲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82912" y="4956048"/>
            <a:ext cx="16459" cy="31089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4892040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تکلیف رعایت نظم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Panel"/>
          <p:cNvSpPr/>
          <p:nvPr/>
        </p:nvSpPr>
        <p:spPr>
          <a:xfrm>
            <a:off x="749808" y="228600"/>
            <a:ext cx="1092708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56032"/>
            <a:ext cx="10872215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1024127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اصل طلایی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1005840" y="713232"/>
            <a:ext cx="10195559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مرز آزادی من، حق دیگران است</a:t>
            </a:r>
          </a:p>
        </p:txBody>
      </p:sp>
      <p:sp>
        <p:nvSpPr>
          <p:cNvPr id="8" name="!!KineticRail"/>
          <p:cNvSpPr/>
          <p:nvPr/>
        </p:nvSpPr>
        <p:spPr>
          <a:xfrm>
            <a:off x="11832336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۰۴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۰۴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24384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1389888"/>
            <a:ext cx="10881360" cy="111556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1417320"/>
            <a:ext cx="1082649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89436" y="1572768"/>
            <a:ext cx="32004" cy="74980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572768"/>
            <a:ext cx="105613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700" b="1" lang="fa-IR">
                <a:solidFill>
                  <a:srgbClr val="F5B942"/>
                </a:solidFill>
                <a:latin typeface="Tahoma"/>
              </a:rPr>
              <a:t>«آزادی بدون مسئولیت، به بی‌نظمی تبدیل می‌شود.»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788920"/>
            <a:ext cx="8503920" cy="18288"/>
          </a:xfrm>
          <a:prstGeom prst="rect">
            <a:avLst/>
          </a:prstGeom>
          <a:solidFill>
            <a:srgbClr val="40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DD2AC"/>
                </a:solidFill>
                <a:latin typeface="Tahoma"/>
              </a:rPr>
              <a:t>حق من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انتخاب و استفاده از امکانات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مرز مشترک رفتار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7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6759"/>
                </a:solidFill>
                <a:latin typeface="Tahoma"/>
              </a:rPr>
              <a:t>حق دیگران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آرامش، امنیت و دارایی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Panel"/>
          <p:cNvSpPr/>
          <p:nvPr/>
        </p:nvSpPr>
        <p:spPr>
          <a:xfrm>
            <a:off x="475488" y="228600"/>
            <a:ext cx="1120140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1114653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749808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تفکیک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731520" y="713232"/>
            <a:ext cx="1046988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مقررات و قانون؛ تفاوت در گستره و اجرا</a:t>
            </a:r>
          </a:p>
        </p:txBody>
      </p:sp>
      <p:sp>
        <p:nvSpPr>
          <p:cNvPr id="8" name="!!KineticRail"/>
          <p:cNvSpPr/>
          <p:nvPr/>
        </p:nvSpPr>
        <p:spPr>
          <a:xfrm>
            <a:off x="274320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۰۵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۰۵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30480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1417320"/>
            <a:ext cx="13716" cy="431596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389888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1417320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01284" y="157276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1572768"/>
            <a:ext cx="470916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مقررات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2276856"/>
            <a:ext cx="960120" cy="2011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450591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برای محیط محدود؛ مثل خانه، کلاس و اردو. معمولاً با توافق گروه یا مدیریت همان محیط اجرا می‌شود.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1389888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9944" y="1417320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43716" y="157276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572768"/>
            <a:ext cx="470916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276856"/>
            <a:ext cx="960120" cy="2011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50591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قاعده‌ای رسمی و لازم‌الاجرا برای جامعه؛ با نظارت نهادهای رسمی و دادگاه.</a:t>
            </a:r>
          </a:p>
        </p:txBody>
      </p:sp>
    </p:spTree>
  </p:cSld>
  <p:clrMapOvr>
    <a:masterClrMapping/>
  </p:clrMapOvr>
  <p:transition spd="med" advClick="1">
    <p:zoom dir="in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749808" y="228600"/>
            <a:ext cx="1092708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56032"/>
            <a:ext cx="10872215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1024127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هستهٔ درس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1005840" y="713232"/>
            <a:ext cx="10195559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چهار دلیل اصلی نیاز به قانون</a:t>
            </a:r>
          </a:p>
        </p:txBody>
      </p:sp>
      <p:sp>
        <p:nvSpPr>
          <p:cNvPr id="8" name="!!KineticRail"/>
          <p:cNvSpPr/>
          <p:nvPr/>
        </p:nvSpPr>
        <p:spPr>
          <a:xfrm>
            <a:off x="11832336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۰۶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۰۶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36576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353312"/>
            <a:ext cx="5074920" cy="422452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380744"/>
            <a:ext cx="502005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60836" y="1536192"/>
            <a:ext cx="32004" cy="385876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46920" y="1554480"/>
            <a:ext cx="132588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581912"/>
            <a:ext cx="117957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چهار ستون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50876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150876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حفظ حقوق افراد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2048" y="207568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46888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246888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برقراری نظم و امنیت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2048" y="303580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42900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342900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رشد مسئولیت‌پذیری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42048" y="399592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38912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438912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حل عادلانهٔ اختلاف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42048" y="495604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475488" y="228600"/>
            <a:ext cx="1120140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1114653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749808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دلیل اول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731520" y="713232"/>
            <a:ext cx="1046988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قانون، سپر افراد در برابر زورگویی است</a:t>
            </a:r>
          </a:p>
        </p:txBody>
      </p:sp>
      <p:sp>
        <p:nvSpPr>
          <p:cNvPr id="8" name="!!KineticRail"/>
          <p:cNvSpPr/>
          <p:nvPr/>
        </p:nvSpPr>
        <p:spPr>
          <a:xfrm>
            <a:off x="274320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۰۷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۰۷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42672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1417320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" y="1444752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4708" y="160020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600200"/>
            <a:ext cx="470916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قدرت، جای حق را نمی‌گیرد.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2304288"/>
            <a:ext cx="960120" cy="2011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478024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به همه—حتی افراد ضعیف‌تر—امکان دفاع، شکایت و رسیدگی عادلانه می‌دهد.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traffic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749808" y="228600"/>
            <a:ext cx="1092708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56032"/>
            <a:ext cx="10872215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1024127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دلیل دوم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1005840" y="713232"/>
            <a:ext cx="10195559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چراغ قرمز؛ قرارداد حفظ جان</a:t>
            </a:r>
          </a:p>
        </p:txBody>
      </p:sp>
      <p:sp>
        <p:nvSpPr>
          <p:cNvPr id="8" name="!!KineticRail"/>
          <p:cNvSpPr/>
          <p:nvPr/>
        </p:nvSpPr>
        <p:spPr>
          <a:xfrm>
            <a:off x="11832336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۰۸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۰۸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48768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389888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18504" y="1417320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43716" y="1572768"/>
            <a:ext cx="32004" cy="1755648"/>
          </a:xfrm>
          <a:prstGeom prst="round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72768"/>
            <a:ext cx="48006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6759"/>
                </a:solidFill>
                <a:latin typeface="Tahoma"/>
              </a:rPr>
              <a:t>چند ثانیه عجله، چند حق از دست‌رفته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76856"/>
            <a:ext cx="960120" cy="2011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50591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عبور غیرمجاز فقط راننده را درگیر نمی‌کند؛ جان، زمان و آرامش دیگران هم تهدید می‌شود.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0528" y="416052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4215383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6759"/>
                </a:solidFill>
                <a:latin typeface="Tahoma"/>
              </a:rPr>
              <a:t>جان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4315968"/>
            <a:ext cx="16459" cy="31089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4251959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امنیت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736592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7" y="4791455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B942"/>
                </a:solidFill>
                <a:latin typeface="Tahoma"/>
              </a:rPr>
              <a:t>زمان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11512" y="4892040"/>
            <a:ext cx="16459" cy="31089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5248" y="4828031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نظم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Panel"/>
          <p:cNvSpPr/>
          <p:nvPr/>
        </p:nvSpPr>
        <p:spPr>
          <a:xfrm>
            <a:off x="475488" y="228600"/>
            <a:ext cx="1120140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1114653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749808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دلیل سوم و چهارم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731520" y="713232"/>
            <a:ext cx="1046988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مسئولیت‌پذیری و حل اختلاف</a:t>
            </a:r>
          </a:p>
        </p:txBody>
      </p:sp>
      <p:sp>
        <p:nvSpPr>
          <p:cNvPr id="8" name="!!KineticRail"/>
          <p:cNvSpPr/>
          <p:nvPr/>
        </p:nvSpPr>
        <p:spPr>
          <a:xfrm>
            <a:off x="274320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۰۹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۰۹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54864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1325880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1353312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47004" y="150876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1508760"/>
            <a:ext cx="47548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مسئولیت‌پذیری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2212848"/>
            <a:ext cx="960120" cy="2011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386584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به ما یاد می‌دهد پیامد رفتار خود را ببینیم و حتی بدون نظارت، انتخاب درست داشته باشیم.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325880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1656" y="1353312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71148" y="150876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508760"/>
            <a:ext cx="47548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حل اختلاف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2212848"/>
            <a:ext cx="960120" cy="2011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386584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دادگاه، دلیل و قانون را جایگزین دعوا، زور و انتقام می‌کند.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ity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749808" y="228600"/>
            <a:ext cx="1092708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56032"/>
            <a:ext cx="10872215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1024127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قانون در شهر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1005840" y="713232"/>
            <a:ext cx="10195559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مال عمومی، مال همه است</a:t>
            </a:r>
          </a:p>
        </p:txBody>
      </p:sp>
      <p:sp>
        <p:nvSpPr>
          <p:cNvPr id="8" name="!!KineticRail"/>
          <p:cNvSpPr/>
          <p:nvPr/>
        </p:nvSpPr>
        <p:spPr>
          <a:xfrm>
            <a:off x="11832336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۱۰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۱۰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60960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1371600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" y="1399032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56148" y="155448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554480"/>
            <a:ext cx="48006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پارک • اتوبوس • کتابخانه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2258568"/>
            <a:ext cx="960120" cy="2011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432304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پاکیزگی، مراقبت از تجهیزات و امانت‌داری باعث می‌شود امکانات برای همه و نسل بعد باقی بماند.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475488" y="228600"/>
            <a:ext cx="1120140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1114653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749808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کارگاه صفحهٔ ۱۵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731520" y="713232"/>
            <a:ext cx="1046988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اردو؛ قانون خوب باید قابل اجرا باشد</a:t>
            </a:r>
          </a:p>
        </p:txBody>
      </p:sp>
      <p:sp>
        <p:nvSpPr>
          <p:cNvPr id="8" name="!!KineticRail"/>
          <p:cNvSpPr/>
          <p:nvPr/>
        </p:nvSpPr>
        <p:spPr>
          <a:xfrm>
            <a:off x="274320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۱۱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۱۱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67056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2784" y="1371600"/>
            <a:ext cx="5175504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0216" y="1399032"/>
            <a:ext cx="5120640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397996" y="155448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54480"/>
            <a:ext cx="4773168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سه معیار ساده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2258568"/>
            <a:ext cx="960120" cy="2011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432304"/>
            <a:ext cx="4773168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خوب باید روشن، عادلانه و قابل اجرا باشد؛ نه فقط سخت‌گیرانه.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749808" y="228600"/>
            <a:ext cx="1092708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56032"/>
            <a:ext cx="10872215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1024127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مقررات اردو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1005840" y="713232"/>
            <a:ext cx="10195559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پنج موقعیت، پنج تصمیم روشن</a:t>
            </a:r>
          </a:p>
        </p:txBody>
      </p:sp>
      <p:sp>
        <p:nvSpPr>
          <p:cNvPr id="8" name="!!KineticRail"/>
          <p:cNvSpPr/>
          <p:nvPr/>
        </p:nvSpPr>
        <p:spPr>
          <a:xfrm>
            <a:off x="11832336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۱۲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۱۲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73152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261872"/>
            <a:ext cx="5138928" cy="4526280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27064" y="1289304"/>
            <a:ext cx="5084064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88268" y="1444751"/>
            <a:ext cx="32004" cy="4160520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57232" y="1444752"/>
            <a:ext cx="11430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0384" y="1472184"/>
            <a:ext cx="9966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چک‌لیست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325880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وسایل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325880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جای مشخص و تحویل سالم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1837943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67128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استراحت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167128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خاموشی و سکوت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679192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008376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آتش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008376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محل مجاز و حضور مسئول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520440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849624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غذا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849624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صف و سهم برابر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4361688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690872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گروه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690872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نقش روشن و همکاری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5202936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Panel"/>
          <p:cNvSpPr/>
          <p:nvPr/>
        </p:nvSpPr>
        <p:spPr>
          <a:xfrm>
            <a:off x="475488" y="228600"/>
            <a:ext cx="1120140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1114653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749808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قانون و اخلاق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731520" y="713232"/>
            <a:ext cx="1046988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حداقلِ لازم؛ بهترینِ ممکن</a:t>
            </a:r>
          </a:p>
        </p:txBody>
      </p:sp>
      <p:sp>
        <p:nvSpPr>
          <p:cNvPr id="8" name="!!KineticRail"/>
          <p:cNvSpPr/>
          <p:nvPr/>
        </p:nvSpPr>
        <p:spPr>
          <a:xfrm>
            <a:off x="274320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۱۳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۱۳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7924799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129844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" y="132588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47004" y="148132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1481328"/>
            <a:ext cx="47548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2185416"/>
            <a:ext cx="960120" cy="2011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35915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رفتار لازم و الزام‌آور؛ مثل ایست پشت چراغ قرمز.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129844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1656" y="132588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71148" y="148132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481328"/>
            <a:ext cx="47548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اخلاق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2185416"/>
            <a:ext cx="960120" cy="2011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35915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رفتار انسانی و برتر؛ مثل کمک داوطلبانه به فرد نابینا.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892040"/>
            <a:ext cx="7360920" cy="40233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جامعهٔ خوب، هم قانون‌مدار است و هم اخلاق‌مدار.</a:t>
            </a:r>
          </a:p>
        </p:txBody>
      </p:sp>
    </p:spTree>
  </p:cSld>
  <p:clrMapOvr>
    <a:masterClrMapping/>
  </p:clrMapOvr>
  <p:transition spd="med" advClick="1">
    <p:zoom dir="in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onstitution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749808" y="228600"/>
            <a:ext cx="1092708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56032"/>
            <a:ext cx="10872215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1024127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دانستنی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1005840" y="713232"/>
            <a:ext cx="10195559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قانون اساسی؛ مادر قوانین</a:t>
            </a:r>
          </a:p>
        </p:txBody>
      </p:sp>
      <p:sp>
        <p:nvSpPr>
          <p:cNvPr id="8" name="!!KineticRail"/>
          <p:cNvSpPr/>
          <p:nvPr/>
        </p:nvSpPr>
        <p:spPr>
          <a:xfrm>
            <a:off x="11832336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۱۴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۱۴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85344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1298448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" y="1325880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56148" y="148132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81328"/>
            <a:ext cx="48006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چارچوب اصلی کشور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2185416"/>
            <a:ext cx="960120" cy="2011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359152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اساسی حقوق عمومی و ساختار نهادها را مشخص می‌کند. قوانین دیگر نباید با آن مغایر باشند.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448056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4DD2AC"/>
                </a:solidFill>
                <a:latin typeface="Tahoma"/>
              </a:rPr>
              <a:t>همه‌پرسی: ۱۲ آذر ۱۳۵۸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Panel"/>
          <p:cNvSpPr/>
          <p:nvPr/>
        </p:nvSpPr>
        <p:spPr>
          <a:xfrm>
            <a:off x="475488" y="228600"/>
            <a:ext cx="1120140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1114653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749808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تعادل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731520" y="713232"/>
            <a:ext cx="1046988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حق و تکلیف؛ دو کفهٔ یک ترازو</a:t>
            </a:r>
          </a:p>
        </p:txBody>
      </p:sp>
      <p:sp>
        <p:nvSpPr>
          <p:cNvPr id="8" name="!!KineticRail"/>
          <p:cNvSpPr/>
          <p:nvPr/>
        </p:nvSpPr>
        <p:spPr>
          <a:xfrm>
            <a:off x="274320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۱۵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۱۵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91440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20700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18504" y="123444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397996" y="138988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89888"/>
            <a:ext cx="47548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حق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093976"/>
            <a:ext cx="960120" cy="2011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آموزش، امنیت، احترام و استفاده از امکانات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090672"/>
            <a:ext cx="4206240" cy="18288"/>
          </a:xfrm>
          <a:prstGeom prst="rect">
            <a:avLst/>
          </a:prstGeom>
          <a:solidFill>
            <a:srgbClr val="4E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91072" y="3154679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18504" y="3182111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397996" y="3337560"/>
            <a:ext cx="32004" cy="1755648"/>
          </a:xfrm>
          <a:prstGeom prst="round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337560"/>
            <a:ext cx="47548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6759"/>
                </a:solidFill>
                <a:latin typeface="Tahoma"/>
              </a:rPr>
              <a:t>تکلیف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041648"/>
            <a:ext cx="960120" cy="2011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15383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رعایت نظم، حفظ اموال و احترام به دیگران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Panel"/>
          <p:cNvSpPr/>
          <p:nvPr/>
        </p:nvSpPr>
        <p:spPr>
          <a:xfrm>
            <a:off x="749808" y="228600"/>
            <a:ext cx="1092708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56032"/>
            <a:ext cx="10872215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1024127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تصمیم مسئولانه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1005840" y="713232"/>
            <a:ext cx="10195559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پیش از عمل، سه سؤال بپرس</a:t>
            </a:r>
          </a:p>
        </p:txBody>
      </p:sp>
      <p:sp>
        <p:nvSpPr>
          <p:cNvPr id="8" name="!!KineticRail"/>
          <p:cNvSpPr/>
          <p:nvPr/>
        </p:nvSpPr>
        <p:spPr>
          <a:xfrm>
            <a:off x="11832336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۱۶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۱۶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97536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81328" y="1353312"/>
            <a:ext cx="9235440" cy="4069080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08760" y="1380744"/>
            <a:ext cx="918057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66476" y="1536192"/>
            <a:ext cx="32004" cy="3703320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554480"/>
            <a:ext cx="1353312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1581912"/>
            <a:ext cx="1207008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مکث کن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155448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155448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آیا کسی آسیب می‌بیند؟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19456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78892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78892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اگر همه انجام دهند چه می‌شود؟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42900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02336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02336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آیا پیامدش را می‌پذیرم؟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466344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Panel"/>
          <p:cNvSpPr/>
          <p:nvPr/>
        </p:nvSpPr>
        <p:spPr>
          <a:xfrm>
            <a:off x="475488" y="228600"/>
            <a:ext cx="11201400" cy="107899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1114653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6596" y="411480"/>
            <a:ext cx="32004" cy="713231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Label"/>
          <p:cNvSpPr txBox="1"/>
          <p:nvPr/>
        </p:nvSpPr>
        <p:spPr>
          <a:xfrm>
            <a:off x="749808" y="384048"/>
            <a:ext cx="2606040" cy="2103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مرور سریع</a:t>
            </a:r>
          </a:p>
        </p:txBody>
      </p:sp>
      <p:sp>
        <p:nvSpPr>
          <p:cNvPr id="7" name="!!Title"/>
          <p:cNvSpPr txBox="1"/>
          <p:nvPr/>
        </p:nvSpPr>
        <p:spPr>
          <a:xfrm>
            <a:off x="731520" y="713232"/>
            <a:ext cx="10469880" cy="42062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700" b="1" lang="fa-IR">
                <a:solidFill>
                  <a:srgbClr val="F6FAFC"/>
                </a:solidFill>
                <a:latin typeface="Tahoma"/>
              </a:rPr>
              <a:t>سه نکته‌ای که باید بماند</a:t>
            </a:r>
          </a:p>
        </p:txBody>
      </p:sp>
      <p:sp>
        <p:nvSpPr>
          <p:cNvPr id="8" name="!!KineticRail"/>
          <p:cNvSpPr/>
          <p:nvPr/>
        </p:nvSpPr>
        <p:spPr>
          <a:xfrm>
            <a:off x="274320" y="1554480"/>
            <a:ext cx="32004" cy="3611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393192"/>
            <a:ext cx="41148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7C97A5"/>
                </a:solidFill>
                <a:latin typeface="Tahoma"/>
              </a:rPr>
              <a:t>۱۷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۱۷ / ۱۸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rogress"/>
          <p:cNvSpPr/>
          <p:nvPr/>
        </p:nvSpPr>
        <p:spPr>
          <a:xfrm>
            <a:off x="603504" y="6291072"/>
            <a:ext cx="103632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" y="1335024"/>
            <a:ext cx="10195560" cy="400507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4984" y="1362456"/>
            <a:ext cx="1014069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32820" y="1517904"/>
            <a:ext cx="32004" cy="3639312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18320" y="1536192"/>
            <a:ext cx="13716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1563624"/>
            <a:ext cx="12252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خلاصهٔ درس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1508760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1508760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قانون از حق‌ها محافظت می‌کند.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770632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DD2AC"/>
                </a:solidFill>
                <a:latin typeface="Tahoma"/>
              </a:rPr>
              <a:t>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2770632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آزادی با مسئولیت کامل می‌شود.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32504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6759"/>
                </a:solidFill>
                <a:latin typeface="Tahoma"/>
              </a:rPr>
              <a:t>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032504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حق و تکلیف از هم جدا نیستند.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66928"/>
            <a:ext cx="41148" cy="53949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4206240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5B942"/>
                </a:solidFill>
                <a:latin typeface="Tahoma"/>
              </a:rPr>
              <a:t>جمع‌بندی نهایی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444752"/>
            <a:ext cx="5349240" cy="13898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100" b="1" lang="fa-IR">
                <a:solidFill>
                  <a:srgbClr val="F6FAFC"/>
                </a:solidFill>
                <a:latin typeface="Tahoma"/>
              </a:rPr>
              <a:t>قانون یعنی</a:t>
            </a:r>
            <a:br/>
            <a:r>
              <a:rPr sz="3100" b="1" lang="fa-IR">
                <a:solidFill>
                  <a:srgbClr val="F6FAFC"/>
                </a:solidFill>
                <a:latin typeface="Tahoma"/>
              </a:rPr>
              <a:t>احترام به حقِ خود و دیگران.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4800600" cy="6400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0" lang="fa-IR">
                <a:solidFill>
                  <a:srgbClr val="C6E7F5"/>
                </a:solidFill>
                <a:latin typeface="Tahoma"/>
              </a:rPr>
              <a:t>جامعهٔ بهتر، از انتخاب مسئولانهٔ ما آغاز می‌شود.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438912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سپاس از توجه شما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۱۸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gress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چرا به قانون نیاز داریم؟ — نسخه ۷ کنفرانس سینمایی</dc:title>
  <dc:subject>ارائهٔ حرفه‌ای کنفرانسی با ترنزیشن‌های سینمایی</dc:subject>
  <dc:creator>گروه ۶ از کلاس ۷/۳</dc:creator>
  <cp:keywords/>
  <dc:description>نسخه ۷: منوی فصل‌بندی‌شده، تایپوگرافی کنفرانسی، پنل‌های شیشه‌ای و Morph داستانی؛ بدون انیمیشن داخلی سنگین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