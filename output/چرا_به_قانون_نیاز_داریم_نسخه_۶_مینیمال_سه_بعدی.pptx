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Rail"/>
          <p:cNvSpPr/>
          <p:nvPr/>
        </p:nvSpPr>
        <p:spPr>
          <a:xfrm>
            <a:off x="640080" y="566928"/>
            <a:ext cx="41148" cy="53949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5212080" cy="2560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50" b="1" lang="fa-IR">
                <a:solidFill>
                  <a:srgbClr val="F5B942"/>
                </a:solidFill>
                <a:latin typeface="Tahoma"/>
              </a:rPr>
              <a:t>درس ۳ • مطالعات اجتماعی پایه هفتم</a:t>
            </a:r>
          </a:p>
        </p:txBody>
      </p:sp>
      <p:sp>
        <p:nvSpPr>
          <p:cNvPr id="5" name="!!Hero"/>
          <p:cNvSpPr txBox="1"/>
          <p:nvPr/>
        </p:nvSpPr>
        <p:spPr>
          <a:xfrm>
            <a:off x="896112" y="1353312"/>
            <a:ext cx="5303520" cy="1298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700" b="1" lang="fa-IR">
                <a:solidFill>
                  <a:srgbClr val="F6FAFC"/>
                </a:solidFill>
                <a:latin typeface="Tahoma"/>
              </a:rPr>
              <a:t>چرا به قانون</a:t>
            </a:r>
            <a:br/>
            <a:r>
              <a:rPr sz="3700" b="1" lang="fa-IR">
                <a:solidFill>
                  <a:srgbClr val="F6FAFC"/>
                </a:solidFill>
                <a:latin typeface="Tahoma"/>
              </a:rPr>
              <a:t>نیاز داریم؟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4892040" cy="5943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0" lang="fa-IR">
                <a:solidFill>
                  <a:srgbClr val="C6E7F5"/>
                </a:solidFill>
                <a:latin typeface="Tahoma"/>
              </a:rPr>
              <a:t>مسیرِ نظم، امنیت و عدالت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67328"/>
            <a:ext cx="4251960" cy="18288"/>
          </a:xfrm>
          <a:prstGeom prst="rect">
            <a:avLst/>
          </a:prstGeom>
          <a:solidFill>
            <a:srgbClr val="56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709160" cy="5943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50" b="0" lang="fa-IR">
                <a:solidFill>
                  <a:srgbClr val="F6FAFC"/>
                </a:solidFill>
                <a:latin typeface="Tahoma"/>
              </a:rPr>
              <a:t>گروه ۶ • کلاس ۷/۳</a:t>
            </a:r>
            <a:br/>
            <a:r>
              <a:rPr sz="1150" b="0" lang="fa-IR">
                <a:solidFill>
                  <a:srgbClr val="F6FAFC"/>
                </a:solidFill>
                <a:latin typeface="Tahoma"/>
              </a:rPr>
              <a:t>امین کریم‌پور · عزیزی · طاها عابدی‌فر · گله‌دار · محمدرضا فولادی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۰۱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03504" y="6291072"/>
            <a:ext cx="6096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شروع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اگر یک روز هیچ قانونی وجود نداشت…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۰۲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12192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600200"/>
            <a:ext cx="484632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چه کسی از حق ما دفاع می‌کرد؟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41448"/>
            <a:ext cx="484632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خیابان، مدرسه و خانه خیلی زود دچار آشفتگی می‌شدند. قانون فقط «محدودیت» نیست؛ توافقی برای زندگی امن است.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school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زندگی اجتماعی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هر ارتباط، یک حق و یک مسئولیت می‌سازد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۰۳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18288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89204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حقِ من ↔ مسئولیتِ من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95728"/>
            <a:ext cx="489204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در خانواده، مدرسه و محله از امکانات و احترام برخورداریم؛ در مقابل باید حق دیگران را رعایت کنیم.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160520"/>
            <a:ext cx="10515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700" b="1" lang="fa-IR">
                <a:solidFill>
                  <a:srgbClr val="4DD2AC"/>
                </a:solidFill>
                <a:latin typeface="Tahoma"/>
              </a:rPr>
              <a:t>۰۱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233672"/>
            <a:ext cx="237744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0" lang="fa-IR">
                <a:solidFill>
                  <a:srgbClr val="C6E7F5"/>
                </a:solidFill>
                <a:latin typeface="Tahoma"/>
              </a:rPr>
              <a:t>حق آموزش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800600"/>
            <a:ext cx="10515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700" b="1" lang="fa-IR">
                <a:solidFill>
                  <a:srgbClr val="F5B942"/>
                </a:solidFill>
                <a:latin typeface="Tahoma"/>
              </a:rPr>
              <a:t>۰۲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4873752"/>
            <a:ext cx="237744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0" lang="fa-IR">
                <a:solidFill>
                  <a:srgbClr val="C6E7F5"/>
                </a:solidFill>
                <a:latin typeface="Tahoma"/>
              </a:rPr>
              <a:t>تکلیف رعایت نظم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اصل طلایی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مرز آزادی من، حق دیگران است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۰۴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24384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10561320" cy="8412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700" b="1" lang="fa-IR">
                <a:solidFill>
                  <a:srgbClr val="F5B942"/>
                </a:solidFill>
                <a:latin typeface="Tahoma"/>
              </a:rPr>
              <a:t>«آزادی بدون مسئولیت، به بی‌نظمی تبدیل می‌شود.»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788920"/>
            <a:ext cx="8503920" cy="18288"/>
          </a:xfrm>
          <a:prstGeom prst="rect">
            <a:avLst/>
          </a:prstGeom>
          <a:solidFill>
            <a:srgbClr val="40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DD2AC"/>
                </a:solidFill>
                <a:latin typeface="Tahoma"/>
              </a:rPr>
              <a:t>حق من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انتخاب و استفاده از امکانات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مرز مشترک رفتار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6759"/>
                </a:solidFill>
                <a:latin typeface="Tahoma"/>
              </a:rPr>
              <a:t>حق دیگران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آرامش، امنیت و دارایی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تفکیک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مقررات و قانون؛ تفاوت در گستره و اجرا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۰۵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30480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9904" y="1417320"/>
            <a:ext cx="13716" cy="431596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72768"/>
            <a:ext cx="470916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مقررات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14016"/>
            <a:ext cx="470916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برای محیط محدود؛ مثل خانه، کلاس و اردو. معمولاً با توافق گروه یا مدیریت همان محیط اجرا می‌شود.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572768"/>
            <a:ext cx="470916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14016"/>
            <a:ext cx="470916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قاعده‌ای رسمی و لازم‌الاجرا برای جامعه؛ با نظارت نهادهای رسمی و دادگاه.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هستهٔ درس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چهار دلیل اصلی نیاز به قانون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۰۶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36576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150876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حفظ حقوق افراد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42048" y="207568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46888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46888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برقراری نظم و امنیت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2048" y="303580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342900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رشد مسئولیت‌پذیری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2048" y="399592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38912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38912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حل عادلانهٔ اختلاف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42048" y="495604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دلیل اول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قانون، سپر افراد در برابر زورگویی است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۰۷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42672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00200"/>
            <a:ext cx="470916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قدرت، جای حق را نمی‌گیرد.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41448"/>
            <a:ext cx="470916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به همه—حتی افراد ضعیف‌تر—امکان دفاع، شکایت و رسیدگی عادلانه می‌دهد.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traffic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دلیل دوم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چراغ قرمز؛ قرارداد حفظ جان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۰۸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48768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480060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6759"/>
                </a:solidFill>
                <a:latin typeface="Tahoma"/>
              </a:rPr>
              <a:t>چند ثانیه عجله، چند حق از دست‌رفته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14016"/>
            <a:ext cx="480060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عبور غیرمجاز فقط راننده را درگیر نمی‌کند؛ جان، زمان و آرامش دیگران هم تهدید می‌شود.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160520"/>
            <a:ext cx="10515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700" b="1" lang="fa-IR">
                <a:solidFill>
                  <a:srgbClr val="F56759"/>
                </a:solidFill>
                <a:latin typeface="Tahoma"/>
              </a:rPr>
              <a:t>جان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233672"/>
            <a:ext cx="237744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0" lang="fa-IR">
                <a:solidFill>
                  <a:srgbClr val="C6E7F5"/>
                </a:solidFill>
                <a:latin typeface="Tahoma"/>
              </a:rPr>
              <a:t>امنیت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736592"/>
            <a:ext cx="10515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700" b="1" lang="fa-IR">
                <a:solidFill>
                  <a:srgbClr val="F5B942"/>
                </a:solidFill>
                <a:latin typeface="Tahoma"/>
              </a:rPr>
              <a:t>زمان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4809744"/>
            <a:ext cx="237744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0" lang="fa-IR">
                <a:solidFill>
                  <a:srgbClr val="C6E7F5"/>
                </a:solidFill>
                <a:latin typeface="Tahoma"/>
              </a:rPr>
              <a:t>نظم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دلیل سوم و چهارم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مسئولیت‌پذیری و حل اختلاف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۰۹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54864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508760"/>
            <a:ext cx="475488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مسئولیت‌پذیری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0008"/>
            <a:ext cx="475488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به ما یاد می‌دهد پیامد رفتار خود را ببینیم و حتی بدون نظارت، انتخاب درست داشته باشیم.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508760"/>
            <a:ext cx="475488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حل اختلاف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50008"/>
            <a:ext cx="475488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دادگاه، دلیل و قانون را جایگزین دعوا، زور و انتقام می‌کند.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ity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قانون در شهر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مال عمومی، مال همه است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۱۰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60960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554480"/>
            <a:ext cx="480060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پارک • اتوبوس • کتابخانه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95728"/>
            <a:ext cx="480060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پاکیزگی، مراقبت از تجهیزات و امانت‌داری باعث می‌شود امکانات برای همه و نسل بعد باقی بماند.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کارگاه صفحهٔ ۱۵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اردو؛ قانون خوب باید قابل اجرا باشد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۱۱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67056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54480"/>
            <a:ext cx="4773168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سه معیار ساده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95728"/>
            <a:ext cx="4773168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خوب باید روشن، عادلانه و قابل اجرا باشد؛ نه فقط سخت‌گیرانه.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مقررات اردو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پنج موقعیت، پنج تصمیم روشن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۱۲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73152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وسایل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325880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جای مشخص و تحویل سالم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837943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8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استراحت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167128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خاموشی و سکوت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679192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008376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آتش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008376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محل مجاز و حضور مسئول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520440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49624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غذا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849624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صف و سهم برابر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361688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90872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گروه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690872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نقش روشن و همکاری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5202936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قانون و اخلاق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حداقلِ لازم؛ بهترینِ ممکن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۱۳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7924799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475488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22576"/>
            <a:ext cx="475488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رفتار لازم و الزام‌آور؛ مثل ایست پشت چراغ قرمز.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481328"/>
            <a:ext cx="475488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اخلاق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22576"/>
            <a:ext cx="475488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رفتار انسانی و برتر؛ مثل کمک داوطلبانه به فرد نابینا.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892040"/>
            <a:ext cx="7360920" cy="40233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جامعهٔ خوب، هم قانون‌مدار است و هم اخلاق‌مدار.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onstitution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دانستنی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قانون اساسی؛ مادر قوانین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۱۴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85344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81328"/>
            <a:ext cx="480060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چارچوب اصلی کشور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22576"/>
            <a:ext cx="480060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اساسی حقوق عمومی و ساختار نهادها را مشخص می‌کند. قوانین دیگر نباید با آن مغایر باشند.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448056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4DD2AC"/>
                </a:solidFill>
                <a:latin typeface="Tahoma"/>
              </a:rPr>
              <a:t>همه‌پرسی: ۱۲ آذر ۱۳۵۸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تعادل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حق و تکلیف؛ دو کفهٔ یک ترازو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۱۵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91440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89888"/>
            <a:ext cx="475488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حق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31136"/>
            <a:ext cx="475488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آموزش، امنیت، احترام و استفاده از امکانات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090672"/>
            <a:ext cx="4206240" cy="18288"/>
          </a:xfrm>
          <a:prstGeom prst="rect">
            <a:avLst/>
          </a:prstGeom>
          <a:solidFill>
            <a:srgbClr val="4E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337560"/>
            <a:ext cx="4754880" cy="7132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6759"/>
                </a:solidFill>
                <a:latin typeface="Tahoma"/>
              </a:rPr>
              <a:t>تکلیف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78808"/>
            <a:ext cx="4754880" cy="98755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رعایت نظم، حفظ اموال و احترام به دیگران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تصمیم مسئولانه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پیش از عمل، سه سؤال بپرس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۱۶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97536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55448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55448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آیا کسی آسیب می‌بیند؟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19456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78892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78892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اگر همه انجام دهند چه می‌شود؟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42900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02336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02336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آیا پیامدش را می‌پذیرم؟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466344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Label"/>
          <p:cNvSpPr txBox="1"/>
          <p:nvPr/>
        </p:nvSpPr>
        <p:spPr>
          <a:xfrm>
            <a:off x="603504" y="320040"/>
            <a:ext cx="2926080" cy="21945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مرور سریع</a:t>
            </a:r>
          </a:p>
        </p:txBody>
      </p:sp>
      <p:sp>
        <p:nvSpPr>
          <p:cNvPr id="4" name="!!Title"/>
          <p:cNvSpPr txBox="1"/>
          <p:nvPr/>
        </p:nvSpPr>
        <p:spPr>
          <a:xfrm>
            <a:off x="603504" y="658368"/>
            <a:ext cx="1097280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600" b="1" lang="fa-IR">
                <a:solidFill>
                  <a:srgbClr val="F6FAFC"/>
                </a:solidFill>
                <a:latin typeface="Tahoma"/>
              </a:rPr>
              <a:t>سه نکته‌ای که باید بماند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225296"/>
            <a:ext cx="1143000" cy="228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۱۷ / ۱۸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gress"/>
          <p:cNvSpPr/>
          <p:nvPr/>
        </p:nvSpPr>
        <p:spPr>
          <a:xfrm>
            <a:off x="603504" y="6291072"/>
            <a:ext cx="103632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508760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508760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قانون از حق‌ها محافظت می‌کند.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70632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DD2AC"/>
                </a:solidFill>
                <a:latin typeface="Tahoma"/>
              </a:rPr>
              <a:t>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770632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آزادی با مسئولیت کامل می‌شود.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32504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6759"/>
                </a:solidFill>
                <a:latin typeface="Tahoma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032504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حق و تکلیف از هم جدا نیستند.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Rail"/>
          <p:cNvSpPr/>
          <p:nvPr/>
        </p:nvSpPr>
        <p:spPr>
          <a:xfrm>
            <a:off x="640080" y="566928"/>
            <a:ext cx="41148" cy="53949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4206240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50" b="1" lang="fa-IR">
                <a:solidFill>
                  <a:srgbClr val="F5B942"/>
                </a:solidFill>
                <a:latin typeface="Tahoma"/>
              </a:rPr>
              <a:t>جمع‌بندی نهایی</a:t>
            </a:r>
          </a:p>
        </p:txBody>
      </p:sp>
      <p:sp>
        <p:nvSpPr>
          <p:cNvPr id="5" name="!!Hero"/>
          <p:cNvSpPr txBox="1"/>
          <p:nvPr/>
        </p:nvSpPr>
        <p:spPr>
          <a:xfrm>
            <a:off x="896112" y="1444752"/>
            <a:ext cx="5349240" cy="13898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100" b="1" lang="fa-IR">
                <a:solidFill>
                  <a:srgbClr val="F6FAFC"/>
                </a:solidFill>
                <a:latin typeface="Tahoma"/>
              </a:rPr>
              <a:t>قانون یعنی</a:t>
            </a:r>
            <a:br/>
            <a:r>
              <a:rPr sz="3100" b="1" lang="fa-IR">
                <a:solidFill>
                  <a:srgbClr val="F6FAFC"/>
                </a:solidFill>
                <a:latin typeface="Tahoma"/>
              </a:rPr>
              <a:t>احترام به حقِ خود و دیگران.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4800600" cy="6400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0" lang="fa-IR">
                <a:solidFill>
                  <a:srgbClr val="C6E7F5"/>
                </a:solidFill>
                <a:latin typeface="Tahoma"/>
              </a:rPr>
              <a:t>جامعهٔ بهتر، از انتخاب مسئولانهٔ ما آغاز می‌شود.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438912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سپاس از توجه شما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۱۸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gress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چرا به قانون نیاز داریم؟ — نسخه ۶ مینیمال سه‌بعدی</dc:title>
  <dc:subject>ارائهٔ شیک و سادهٔ ۱۸ اسلایدی برای کلاس</dc:subject>
  <dc:creator>گروه ۶ از کلاس ۷/۳</dc:creator>
  <cp:keywords/>
  <dc:description>بدون صدا و GIF؛ چیدمان مینیمال، متن درشت و رندر سه‌بعدی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